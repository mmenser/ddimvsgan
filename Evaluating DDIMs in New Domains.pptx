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6" r:id="rId1"/>
  </p:sldMasterIdLst>
  <p:notesMasterIdLst>
    <p:notesMasterId r:id="rId10"/>
  </p:notesMasterIdLst>
  <p:sldIdLst>
    <p:sldId id="256" r:id="rId2"/>
    <p:sldId id="257" r:id="rId3"/>
    <p:sldId id="260" r:id="rId4"/>
    <p:sldId id="261" r:id="rId5"/>
    <p:sldId id="264" r:id="rId6"/>
    <p:sldId id="262" r:id="rId7"/>
    <p:sldId id="263" r:id="rId8"/>
    <p:sldId id="265"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4" autoAdjust="0"/>
    <p:restoredTop sz="76094" autoAdjust="0"/>
  </p:normalViewPr>
  <p:slideViewPr>
    <p:cSldViewPr snapToGrid="0">
      <p:cViewPr varScale="1">
        <p:scale>
          <a:sx n="122" d="100"/>
          <a:sy n="122" d="100"/>
        </p:scale>
        <p:origin x="157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4DE903-8928-4F53-8948-4BEA2CACA4FB}" type="datetimeFigureOut">
              <a:rPr lang="en-US" smtClean="0"/>
              <a:t>12/4/2025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D58DCE-95A7-4CB9-A6D8-A46A167DF4A3}" type="slidenum">
              <a:rPr lang="en-US" smtClean="0"/>
              <a:t>‹#›</a:t>
            </a:fld>
            <a:endParaRPr lang="en-US"/>
          </a:p>
        </p:txBody>
      </p:sp>
    </p:spTree>
    <p:extLst>
      <p:ext uri="{BB962C8B-B14F-4D97-AF65-F5344CB8AC3E}">
        <p14:creationId xmlns:p14="http://schemas.microsoft.com/office/powerpoint/2010/main" val="22439198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DDIMs are a class of image</a:t>
            </a:r>
          </a:p>
          <a:p>
            <a:r>
              <a:rPr lang="en-US" dirty="0"/>
              <a:t>Steps:</a:t>
            </a:r>
          </a:p>
          <a:p>
            <a:r>
              <a:rPr lang="en-US" dirty="0"/>
              <a:t>First, you add Gaussian noise to a clean image for T steps. At the end of those steps, you essentially have just pure noise. This is called the forward pass. From there, we move to the Denoising process. This is where </a:t>
            </a:r>
            <a:r>
              <a:rPr lang="en-US" dirty="0" err="1"/>
              <a:t>nueral</a:t>
            </a:r>
            <a:r>
              <a:rPr lang="en-US" dirty="0"/>
              <a:t> networks come in, where the model learns to reverse the forward process. Essentially, at each step T, the model tries to predict the noise that was added. By predicting the noise, the model can create a slightly less noising image and eventually, after T steps, results in a clean image. </a:t>
            </a:r>
          </a:p>
        </p:txBody>
      </p:sp>
      <p:sp>
        <p:nvSpPr>
          <p:cNvPr id="4" name="Slide Number Placeholder 3"/>
          <p:cNvSpPr>
            <a:spLocks noGrp="1"/>
          </p:cNvSpPr>
          <p:nvPr>
            <p:ph type="sldNum" sz="quarter" idx="5"/>
          </p:nvPr>
        </p:nvSpPr>
        <p:spPr/>
        <p:txBody>
          <a:bodyPr/>
          <a:lstStyle/>
          <a:p>
            <a:fld id="{1C8C2DBB-8D42-47E3-8C0C-B3452F62FF3E}" type="slidenum">
              <a:rPr lang="en-US" smtClean="0"/>
              <a:t>2</a:t>
            </a:fld>
            <a:endParaRPr lang="en-US"/>
          </a:p>
        </p:txBody>
      </p:sp>
    </p:spTree>
    <p:extLst>
      <p:ext uri="{BB962C8B-B14F-4D97-AF65-F5344CB8AC3E}">
        <p14:creationId xmlns:p14="http://schemas.microsoft.com/office/powerpoint/2010/main" val="34097202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58DCE-95A7-4CB9-A6D8-A46A167DF4A3}" type="slidenum">
              <a:rPr lang="en-US" smtClean="0"/>
              <a:t>3</a:t>
            </a:fld>
            <a:endParaRPr lang="en-US"/>
          </a:p>
        </p:txBody>
      </p:sp>
    </p:spTree>
    <p:extLst>
      <p:ext uri="{BB962C8B-B14F-4D97-AF65-F5344CB8AC3E}">
        <p14:creationId xmlns:p14="http://schemas.microsoft.com/office/powerpoint/2010/main" val="5972926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MNIST is simpler and has been used much more than Flowers102. </a:t>
            </a:r>
          </a:p>
        </p:txBody>
      </p:sp>
      <p:sp>
        <p:nvSpPr>
          <p:cNvPr id="4" name="Slide Number Placeholder 3"/>
          <p:cNvSpPr>
            <a:spLocks noGrp="1"/>
          </p:cNvSpPr>
          <p:nvPr>
            <p:ph type="sldNum" sz="quarter" idx="5"/>
          </p:nvPr>
        </p:nvSpPr>
        <p:spPr/>
        <p:txBody>
          <a:bodyPr/>
          <a:lstStyle/>
          <a:p>
            <a:fld id="{8CD58DCE-95A7-4CB9-A6D8-A46A167DF4A3}" type="slidenum">
              <a:rPr lang="en-US" smtClean="0"/>
              <a:t>4</a:t>
            </a:fld>
            <a:endParaRPr lang="en-US"/>
          </a:p>
        </p:txBody>
      </p:sp>
    </p:spTree>
    <p:extLst>
      <p:ext uri="{BB962C8B-B14F-4D97-AF65-F5344CB8AC3E}">
        <p14:creationId xmlns:p14="http://schemas.microsoft.com/office/powerpoint/2010/main" val="11862491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5C5ED-DEEF-F2C7-B01A-D7F228472EA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0AB1415-C7CA-14FB-56EC-B2CE468A17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14CF1C4-6C13-BCE1-322B-355AD3DE6682}"/>
              </a:ext>
            </a:extLst>
          </p:cNvPr>
          <p:cNvSpPr>
            <a:spLocks noGrp="1"/>
          </p:cNvSpPr>
          <p:nvPr>
            <p:ph type="dt" sz="half" idx="10"/>
          </p:nvPr>
        </p:nvSpPr>
        <p:spPr/>
        <p:txBody>
          <a:bodyPr/>
          <a:lstStyle/>
          <a:p>
            <a:fld id="{A53D0CF4-1CA0-4C2A-8220-83BA371E72A4}" type="datetimeFigureOut">
              <a:rPr lang="en-US" smtClean="0"/>
              <a:t>12/4/2025</a:t>
            </a:fld>
            <a:endParaRPr lang="en-US"/>
          </a:p>
        </p:txBody>
      </p:sp>
      <p:sp>
        <p:nvSpPr>
          <p:cNvPr id="5" name="Footer Placeholder 4">
            <a:extLst>
              <a:ext uri="{FF2B5EF4-FFF2-40B4-BE49-F238E27FC236}">
                <a16:creationId xmlns:a16="http://schemas.microsoft.com/office/drawing/2014/main" id="{946C9932-ABAA-DB33-C483-B4E8C7CFE2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FA72C6-AF51-6808-A657-D3F7AA33944B}"/>
              </a:ext>
            </a:extLst>
          </p:cNvPr>
          <p:cNvSpPr>
            <a:spLocks noGrp="1"/>
          </p:cNvSpPr>
          <p:nvPr>
            <p:ph type="sldNum" sz="quarter" idx="12"/>
          </p:nvPr>
        </p:nvSpPr>
        <p:spPr/>
        <p:txBody>
          <a:bodyPr/>
          <a:lstStyle/>
          <a:p>
            <a:fld id="{44DF20A7-4908-43D6-9A3D-221F3CDFA6E7}" type="slidenum">
              <a:rPr lang="en-US" smtClean="0"/>
              <a:t>‹#›</a:t>
            </a:fld>
            <a:endParaRPr lang="en-US"/>
          </a:p>
        </p:txBody>
      </p:sp>
    </p:spTree>
    <p:extLst>
      <p:ext uri="{BB962C8B-B14F-4D97-AF65-F5344CB8AC3E}">
        <p14:creationId xmlns:p14="http://schemas.microsoft.com/office/powerpoint/2010/main" val="38805070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74CE0-9447-6AD0-2C60-4E67FC73C52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A723AB9-97AD-A5F2-D156-282794D76E0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0831BF-CC03-3BAA-8867-F63B3B84F415}"/>
              </a:ext>
            </a:extLst>
          </p:cNvPr>
          <p:cNvSpPr>
            <a:spLocks noGrp="1"/>
          </p:cNvSpPr>
          <p:nvPr>
            <p:ph type="dt" sz="half" idx="10"/>
          </p:nvPr>
        </p:nvSpPr>
        <p:spPr/>
        <p:txBody>
          <a:bodyPr/>
          <a:lstStyle/>
          <a:p>
            <a:fld id="{A53D0CF4-1CA0-4C2A-8220-83BA371E72A4}" type="datetimeFigureOut">
              <a:rPr lang="en-US" smtClean="0"/>
              <a:t>12/4/2025</a:t>
            </a:fld>
            <a:endParaRPr lang="en-US"/>
          </a:p>
        </p:txBody>
      </p:sp>
      <p:sp>
        <p:nvSpPr>
          <p:cNvPr id="5" name="Footer Placeholder 4">
            <a:extLst>
              <a:ext uri="{FF2B5EF4-FFF2-40B4-BE49-F238E27FC236}">
                <a16:creationId xmlns:a16="http://schemas.microsoft.com/office/drawing/2014/main" id="{453669D7-1800-DFE0-5553-7EB2047730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75CF9F-305A-45E0-E481-93D00C2EC27F}"/>
              </a:ext>
            </a:extLst>
          </p:cNvPr>
          <p:cNvSpPr>
            <a:spLocks noGrp="1"/>
          </p:cNvSpPr>
          <p:nvPr>
            <p:ph type="sldNum" sz="quarter" idx="12"/>
          </p:nvPr>
        </p:nvSpPr>
        <p:spPr/>
        <p:txBody>
          <a:bodyPr/>
          <a:lstStyle/>
          <a:p>
            <a:fld id="{44DF20A7-4908-43D6-9A3D-221F3CDFA6E7}" type="slidenum">
              <a:rPr lang="en-US" smtClean="0"/>
              <a:t>‹#›</a:t>
            </a:fld>
            <a:endParaRPr lang="en-US"/>
          </a:p>
        </p:txBody>
      </p:sp>
    </p:spTree>
    <p:extLst>
      <p:ext uri="{BB962C8B-B14F-4D97-AF65-F5344CB8AC3E}">
        <p14:creationId xmlns:p14="http://schemas.microsoft.com/office/powerpoint/2010/main" val="10583989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C9345-42CA-D93E-60D6-04EBDA34A3F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12BB3B7-A657-DC05-0FFA-3B0AE82C28D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610B533-A4FF-1F93-B311-4CC59FC0B750}"/>
              </a:ext>
            </a:extLst>
          </p:cNvPr>
          <p:cNvSpPr>
            <a:spLocks noGrp="1"/>
          </p:cNvSpPr>
          <p:nvPr>
            <p:ph type="dt" sz="half" idx="10"/>
          </p:nvPr>
        </p:nvSpPr>
        <p:spPr/>
        <p:txBody>
          <a:bodyPr/>
          <a:lstStyle/>
          <a:p>
            <a:fld id="{A53D0CF4-1CA0-4C2A-8220-83BA371E72A4}" type="datetimeFigureOut">
              <a:rPr lang="en-US" smtClean="0"/>
              <a:t>12/4/2025</a:t>
            </a:fld>
            <a:endParaRPr lang="en-US"/>
          </a:p>
        </p:txBody>
      </p:sp>
      <p:sp>
        <p:nvSpPr>
          <p:cNvPr id="5" name="Footer Placeholder 4">
            <a:extLst>
              <a:ext uri="{FF2B5EF4-FFF2-40B4-BE49-F238E27FC236}">
                <a16:creationId xmlns:a16="http://schemas.microsoft.com/office/drawing/2014/main" id="{2EA9D813-CBC1-E1E8-141B-6D868A829B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366B01-C48C-7687-8D76-B39B2DFFE988}"/>
              </a:ext>
            </a:extLst>
          </p:cNvPr>
          <p:cNvSpPr>
            <a:spLocks noGrp="1"/>
          </p:cNvSpPr>
          <p:nvPr>
            <p:ph type="sldNum" sz="quarter" idx="12"/>
          </p:nvPr>
        </p:nvSpPr>
        <p:spPr/>
        <p:txBody>
          <a:bodyPr/>
          <a:lstStyle/>
          <a:p>
            <a:fld id="{44DF20A7-4908-43D6-9A3D-221F3CDFA6E7}" type="slidenum">
              <a:rPr lang="en-US" smtClean="0"/>
              <a:t>‹#›</a:t>
            </a:fld>
            <a:endParaRPr lang="en-US"/>
          </a:p>
        </p:txBody>
      </p:sp>
    </p:spTree>
    <p:extLst>
      <p:ext uri="{BB962C8B-B14F-4D97-AF65-F5344CB8AC3E}">
        <p14:creationId xmlns:p14="http://schemas.microsoft.com/office/powerpoint/2010/main" val="24927975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3AF62-3FBC-0515-C054-76463828D97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77F421-5091-FC99-869A-CE8E66479BF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C532D0-E1A4-9496-76A1-C01B0167E3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627B683-5E59-F29E-2FAC-68CB9DEC1025}"/>
              </a:ext>
            </a:extLst>
          </p:cNvPr>
          <p:cNvSpPr>
            <a:spLocks noGrp="1"/>
          </p:cNvSpPr>
          <p:nvPr>
            <p:ph type="dt" sz="half" idx="10"/>
          </p:nvPr>
        </p:nvSpPr>
        <p:spPr/>
        <p:txBody>
          <a:bodyPr/>
          <a:lstStyle/>
          <a:p>
            <a:fld id="{A53D0CF4-1CA0-4C2A-8220-83BA371E72A4}" type="datetimeFigureOut">
              <a:rPr lang="en-US" smtClean="0"/>
              <a:t>12/4/2025</a:t>
            </a:fld>
            <a:endParaRPr lang="en-US"/>
          </a:p>
        </p:txBody>
      </p:sp>
      <p:sp>
        <p:nvSpPr>
          <p:cNvPr id="6" name="Footer Placeholder 5">
            <a:extLst>
              <a:ext uri="{FF2B5EF4-FFF2-40B4-BE49-F238E27FC236}">
                <a16:creationId xmlns:a16="http://schemas.microsoft.com/office/drawing/2014/main" id="{88C7B25C-FC01-547F-68A7-E1F9119DAC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B39161-2275-45F2-640D-3ED71BEF23F4}"/>
              </a:ext>
            </a:extLst>
          </p:cNvPr>
          <p:cNvSpPr>
            <a:spLocks noGrp="1"/>
          </p:cNvSpPr>
          <p:nvPr>
            <p:ph type="sldNum" sz="quarter" idx="12"/>
          </p:nvPr>
        </p:nvSpPr>
        <p:spPr/>
        <p:txBody>
          <a:bodyPr/>
          <a:lstStyle/>
          <a:p>
            <a:fld id="{44DF20A7-4908-43D6-9A3D-221F3CDFA6E7}" type="slidenum">
              <a:rPr lang="en-US" smtClean="0"/>
              <a:t>‹#›</a:t>
            </a:fld>
            <a:endParaRPr lang="en-US"/>
          </a:p>
        </p:txBody>
      </p:sp>
    </p:spTree>
    <p:extLst>
      <p:ext uri="{BB962C8B-B14F-4D97-AF65-F5344CB8AC3E}">
        <p14:creationId xmlns:p14="http://schemas.microsoft.com/office/powerpoint/2010/main" val="32008244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09D74-A252-DB35-9B9F-E62649FDEC1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92A7BE4-5E07-091F-5A04-8D15747023D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752A74-C8C0-78ED-F27B-3269292F275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2728700-6BE3-18AA-E056-ECF8ED00AF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0FEF3EF-CA9A-2C1D-0D96-BCC7C7F7014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51A1560-3D16-5966-4FB1-6FA058F3A643}"/>
              </a:ext>
            </a:extLst>
          </p:cNvPr>
          <p:cNvSpPr>
            <a:spLocks noGrp="1"/>
          </p:cNvSpPr>
          <p:nvPr>
            <p:ph type="dt" sz="half" idx="10"/>
          </p:nvPr>
        </p:nvSpPr>
        <p:spPr/>
        <p:txBody>
          <a:bodyPr/>
          <a:lstStyle/>
          <a:p>
            <a:fld id="{A53D0CF4-1CA0-4C2A-8220-83BA371E72A4}" type="datetimeFigureOut">
              <a:rPr lang="en-US" smtClean="0"/>
              <a:t>12/4/2025</a:t>
            </a:fld>
            <a:endParaRPr lang="en-US"/>
          </a:p>
        </p:txBody>
      </p:sp>
      <p:sp>
        <p:nvSpPr>
          <p:cNvPr id="8" name="Footer Placeholder 7">
            <a:extLst>
              <a:ext uri="{FF2B5EF4-FFF2-40B4-BE49-F238E27FC236}">
                <a16:creationId xmlns:a16="http://schemas.microsoft.com/office/drawing/2014/main" id="{AF809922-0945-C1D0-0B88-EA53B849FE3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3ECFE66-6D6E-3462-DA3B-E20A407BD8B2}"/>
              </a:ext>
            </a:extLst>
          </p:cNvPr>
          <p:cNvSpPr>
            <a:spLocks noGrp="1"/>
          </p:cNvSpPr>
          <p:nvPr>
            <p:ph type="sldNum" sz="quarter" idx="12"/>
          </p:nvPr>
        </p:nvSpPr>
        <p:spPr/>
        <p:txBody>
          <a:bodyPr/>
          <a:lstStyle/>
          <a:p>
            <a:fld id="{44DF20A7-4908-43D6-9A3D-221F3CDFA6E7}" type="slidenum">
              <a:rPr lang="en-US" smtClean="0"/>
              <a:t>‹#›</a:t>
            </a:fld>
            <a:endParaRPr lang="en-US"/>
          </a:p>
        </p:txBody>
      </p:sp>
    </p:spTree>
    <p:extLst>
      <p:ext uri="{BB962C8B-B14F-4D97-AF65-F5344CB8AC3E}">
        <p14:creationId xmlns:p14="http://schemas.microsoft.com/office/powerpoint/2010/main" val="42612395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4C34E-BA15-8497-7537-00C0D6FEB97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7E8AED4-99C0-5049-D2DE-B0A450360092}"/>
              </a:ext>
            </a:extLst>
          </p:cNvPr>
          <p:cNvSpPr>
            <a:spLocks noGrp="1"/>
          </p:cNvSpPr>
          <p:nvPr>
            <p:ph type="dt" sz="half" idx="10"/>
          </p:nvPr>
        </p:nvSpPr>
        <p:spPr/>
        <p:txBody>
          <a:bodyPr/>
          <a:lstStyle/>
          <a:p>
            <a:fld id="{A53D0CF4-1CA0-4C2A-8220-83BA371E72A4}" type="datetimeFigureOut">
              <a:rPr lang="en-US" smtClean="0"/>
              <a:t>12/4/2025</a:t>
            </a:fld>
            <a:endParaRPr lang="en-US"/>
          </a:p>
        </p:txBody>
      </p:sp>
      <p:sp>
        <p:nvSpPr>
          <p:cNvPr id="4" name="Footer Placeholder 3">
            <a:extLst>
              <a:ext uri="{FF2B5EF4-FFF2-40B4-BE49-F238E27FC236}">
                <a16:creationId xmlns:a16="http://schemas.microsoft.com/office/drawing/2014/main" id="{B91A673A-5329-6D2A-4167-E76384463A2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B28EAF8-11EF-F996-2181-6F55B3647FB9}"/>
              </a:ext>
            </a:extLst>
          </p:cNvPr>
          <p:cNvSpPr>
            <a:spLocks noGrp="1"/>
          </p:cNvSpPr>
          <p:nvPr>
            <p:ph type="sldNum" sz="quarter" idx="12"/>
          </p:nvPr>
        </p:nvSpPr>
        <p:spPr/>
        <p:txBody>
          <a:bodyPr/>
          <a:lstStyle/>
          <a:p>
            <a:fld id="{44DF20A7-4908-43D6-9A3D-221F3CDFA6E7}" type="slidenum">
              <a:rPr lang="en-US" smtClean="0"/>
              <a:t>‹#›</a:t>
            </a:fld>
            <a:endParaRPr lang="en-US"/>
          </a:p>
        </p:txBody>
      </p:sp>
    </p:spTree>
    <p:extLst>
      <p:ext uri="{BB962C8B-B14F-4D97-AF65-F5344CB8AC3E}">
        <p14:creationId xmlns:p14="http://schemas.microsoft.com/office/powerpoint/2010/main" val="650641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9634A3-EEA4-2BB8-8989-0D4FF8F97332}"/>
              </a:ext>
            </a:extLst>
          </p:cNvPr>
          <p:cNvSpPr>
            <a:spLocks noGrp="1"/>
          </p:cNvSpPr>
          <p:nvPr>
            <p:ph type="dt" sz="half" idx="10"/>
          </p:nvPr>
        </p:nvSpPr>
        <p:spPr/>
        <p:txBody>
          <a:bodyPr/>
          <a:lstStyle/>
          <a:p>
            <a:fld id="{A53D0CF4-1CA0-4C2A-8220-83BA371E72A4}" type="datetimeFigureOut">
              <a:rPr lang="en-US" smtClean="0"/>
              <a:t>12/4/2025</a:t>
            </a:fld>
            <a:endParaRPr lang="en-US"/>
          </a:p>
        </p:txBody>
      </p:sp>
      <p:sp>
        <p:nvSpPr>
          <p:cNvPr id="3" name="Footer Placeholder 2">
            <a:extLst>
              <a:ext uri="{FF2B5EF4-FFF2-40B4-BE49-F238E27FC236}">
                <a16:creationId xmlns:a16="http://schemas.microsoft.com/office/drawing/2014/main" id="{A23A4095-0AE3-D1DE-1332-1CBC61847D1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2D87D6C-C241-0B83-4454-054395AA7A50}"/>
              </a:ext>
            </a:extLst>
          </p:cNvPr>
          <p:cNvSpPr>
            <a:spLocks noGrp="1"/>
          </p:cNvSpPr>
          <p:nvPr>
            <p:ph type="sldNum" sz="quarter" idx="12"/>
          </p:nvPr>
        </p:nvSpPr>
        <p:spPr/>
        <p:txBody>
          <a:bodyPr/>
          <a:lstStyle/>
          <a:p>
            <a:fld id="{44DF20A7-4908-43D6-9A3D-221F3CDFA6E7}" type="slidenum">
              <a:rPr lang="en-US" smtClean="0"/>
              <a:t>‹#›</a:t>
            </a:fld>
            <a:endParaRPr lang="en-US"/>
          </a:p>
        </p:txBody>
      </p:sp>
    </p:spTree>
    <p:extLst>
      <p:ext uri="{BB962C8B-B14F-4D97-AF65-F5344CB8AC3E}">
        <p14:creationId xmlns:p14="http://schemas.microsoft.com/office/powerpoint/2010/main" val="26140729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1AD1B-CA9E-B32D-E6F5-EA7F971102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C4769A2-59AB-618E-F8BA-4DE689D0BF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8389B99-9289-DC9A-C6F6-787A10D8B3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590204-A047-F5DB-0A26-87BDB0DE9236}"/>
              </a:ext>
            </a:extLst>
          </p:cNvPr>
          <p:cNvSpPr>
            <a:spLocks noGrp="1"/>
          </p:cNvSpPr>
          <p:nvPr>
            <p:ph type="dt" sz="half" idx="10"/>
          </p:nvPr>
        </p:nvSpPr>
        <p:spPr/>
        <p:txBody>
          <a:bodyPr/>
          <a:lstStyle/>
          <a:p>
            <a:fld id="{A53D0CF4-1CA0-4C2A-8220-83BA371E72A4}" type="datetimeFigureOut">
              <a:rPr lang="en-US" smtClean="0"/>
              <a:t>12/4/2025</a:t>
            </a:fld>
            <a:endParaRPr lang="en-US"/>
          </a:p>
        </p:txBody>
      </p:sp>
      <p:sp>
        <p:nvSpPr>
          <p:cNvPr id="6" name="Footer Placeholder 5">
            <a:extLst>
              <a:ext uri="{FF2B5EF4-FFF2-40B4-BE49-F238E27FC236}">
                <a16:creationId xmlns:a16="http://schemas.microsoft.com/office/drawing/2014/main" id="{8AB70ADA-E3CB-BEAB-2352-AB7B6E4E83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04BF01-0AFC-F3D4-648E-79D7B43739EF}"/>
              </a:ext>
            </a:extLst>
          </p:cNvPr>
          <p:cNvSpPr>
            <a:spLocks noGrp="1"/>
          </p:cNvSpPr>
          <p:nvPr>
            <p:ph type="sldNum" sz="quarter" idx="12"/>
          </p:nvPr>
        </p:nvSpPr>
        <p:spPr/>
        <p:txBody>
          <a:bodyPr/>
          <a:lstStyle/>
          <a:p>
            <a:fld id="{44DF20A7-4908-43D6-9A3D-221F3CDFA6E7}" type="slidenum">
              <a:rPr lang="en-US" smtClean="0"/>
              <a:t>‹#›</a:t>
            </a:fld>
            <a:endParaRPr lang="en-US"/>
          </a:p>
        </p:txBody>
      </p:sp>
    </p:spTree>
    <p:extLst>
      <p:ext uri="{BB962C8B-B14F-4D97-AF65-F5344CB8AC3E}">
        <p14:creationId xmlns:p14="http://schemas.microsoft.com/office/powerpoint/2010/main" val="40628191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ACE22-3520-9D43-467C-510A4EFA00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FED5ECC-22AF-7152-B2C1-FD667A642E4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97E276B-F5A8-FB65-1E13-EB586E8EC3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32FE33-CBA7-9268-B23F-FDA592ECEDD4}"/>
              </a:ext>
            </a:extLst>
          </p:cNvPr>
          <p:cNvSpPr>
            <a:spLocks noGrp="1"/>
          </p:cNvSpPr>
          <p:nvPr>
            <p:ph type="dt" sz="half" idx="10"/>
          </p:nvPr>
        </p:nvSpPr>
        <p:spPr/>
        <p:txBody>
          <a:bodyPr/>
          <a:lstStyle/>
          <a:p>
            <a:fld id="{A53D0CF4-1CA0-4C2A-8220-83BA371E72A4}" type="datetimeFigureOut">
              <a:rPr lang="en-US" smtClean="0"/>
              <a:t>12/4/2025</a:t>
            </a:fld>
            <a:endParaRPr lang="en-US"/>
          </a:p>
        </p:txBody>
      </p:sp>
      <p:sp>
        <p:nvSpPr>
          <p:cNvPr id="6" name="Footer Placeholder 5">
            <a:extLst>
              <a:ext uri="{FF2B5EF4-FFF2-40B4-BE49-F238E27FC236}">
                <a16:creationId xmlns:a16="http://schemas.microsoft.com/office/drawing/2014/main" id="{FE4A5CBB-E101-7865-3F1A-3BB9E0B6A2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15FF26-C2A3-0566-7C0A-5369205E6352}"/>
              </a:ext>
            </a:extLst>
          </p:cNvPr>
          <p:cNvSpPr>
            <a:spLocks noGrp="1"/>
          </p:cNvSpPr>
          <p:nvPr>
            <p:ph type="sldNum" sz="quarter" idx="12"/>
          </p:nvPr>
        </p:nvSpPr>
        <p:spPr/>
        <p:txBody>
          <a:bodyPr/>
          <a:lstStyle/>
          <a:p>
            <a:fld id="{44DF20A7-4908-43D6-9A3D-221F3CDFA6E7}" type="slidenum">
              <a:rPr lang="en-US" smtClean="0"/>
              <a:t>‹#›</a:t>
            </a:fld>
            <a:endParaRPr lang="en-US"/>
          </a:p>
        </p:txBody>
      </p:sp>
    </p:spTree>
    <p:extLst>
      <p:ext uri="{BB962C8B-B14F-4D97-AF65-F5344CB8AC3E}">
        <p14:creationId xmlns:p14="http://schemas.microsoft.com/office/powerpoint/2010/main" val="65252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2DA70-9818-1AAD-5F4B-E558DD0F143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97C1A53-5CAB-4423-1D9D-56999A6758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B3C902-33D3-6707-E32E-A2835FD6011A}"/>
              </a:ext>
            </a:extLst>
          </p:cNvPr>
          <p:cNvSpPr>
            <a:spLocks noGrp="1"/>
          </p:cNvSpPr>
          <p:nvPr>
            <p:ph type="dt" sz="half" idx="10"/>
          </p:nvPr>
        </p:nvSpPr>
        <p:spPr/>
        <p:txBody>
          <a:bodyPr/>
          <a:lstStyle/>
          <a:p>
            <a:fld id="{A53D0CF4-1CA0-4C2A-8220-83BA371E72A4}" type="datetimeFigureOut">
              <a:rPr lang="en-US" smtClean="0"/>
              <a:t>12/4/2025</a:t>
            </a:fld>
            <a:endParaRPr lang="en-US"/>
          </a:p>
        </p:txBody>
      </p:sp>
      <p:sp>
        <p:nvSpPr>
          <p:cNvPr id="5" name="Footer Placeholder 4">
            <a:extLst>
              <a:ext uri="{FF2B5EF4-FFF2-40B4-BE49-F238E27FC236}">
                <a16:creationId xmlns:a16="http://schemas.microsoft.com/office/drawing/2014/main" id="{06524CAF-F9D4-43A8-CC62-2175B9953C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CBC374-5B86-CC61-1B0C-567FE05885EA}"/>
              </a:ext>
            </a:extLst>
          </p:cNvPr>
          <p:cNvSpPr>
            <a:spLocks noGrp="1"/>
          </p:cNvSpPr>
          <p:nvPr>
            <p:ph type="sldNum" sz="quarter" idx="12"/>
          </p:nvPr>
        </p:nvSpPr>
        <p:spPr/>
        <p:txBody>
          <a:bodyPr/>
          <a:lstStyle/>
          <a:p>
            <a:fld id="{44DF20A7-4908-43D6-9A3D-221F3CDFA6E7}" type="slidenum">
              <a:rPr lang="en-US" smtClean="0"/>
              <a:t>‹#›</a:t>
            </a:fld>
            <a:endParaRPr lang="en-US"/>
          </a:p>
        </p:txBody>
      </p:sp>
    </p:spTree>
    <p:extLst>
      <p:ext uri="{BB962C8B-B14F-4D97-AF65-F5344CB8AC3E}">
        <p14:creationId xmlns:p14="http://schemas.microsoft.com/office/powerpoint/2010/main" val="3163707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5D4C86-52BB-43F7-A920-227B2E5E9E4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078DBC9-E629-0B84-3FE8-3FCCD69ACAC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B9C791-6F25-2078-8F17-8C0298614731}"/>
              </a:ext>
            </a:extLst>
          </p:cNvPr>
          <p:cNvSpPr>
            <a:spLocks noGrp="1"/>
          </p:cNvSpPr>
          <p:nvPr>
            <p:ph type="dt" sz="half" idx="10"/>
          </p:nvPr>
        </p:nvSpPr>
        <p:spPr/>
        <p:txBody>
          <a:bodyPr/>
          <a:lstStyle/>
          <a:p>
            <a:fld id="{A53D0CF4-1CA0-4C2A-8220-83BA371E72A4}" type="datetimeFigureOut">
              <a:rPr lang="en-US" smtClean="0"/>
              <a:t>12/4/2025</a:t>
            </a:fld>
            <a:endParaRPr lang="en-US"/>
          </a:p>
        </p:txBody>
      </p:sp>
      <p:sp>
        <p:nvSpPr>
          <p:cNvPr id="5" name="Footer Placeholder 4">
            <a:extLst>
              <a:ext uri="{FF2B5EF4-FFF2-40B4-BE49-F238E27FC236}">
                <a16:creationId xmlns:a16="http://schemas.microsoft.com/office/drawing/2014/main" id="{39EEB4B0-1D5A-4510-162B-B17A36D979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2E5FE0-4B67-8788-9EDF-1AD48C517B29}"/>
              </a:ext>
            </a:extLst>
          </p:cNvPr>
          <p:cNvSpPr>
            <a:spLocks noGrp="1"/>
          </p:cNvSpPr>
          <p:nvPr>
            <p:ph type="sldNum" sz="quarter" idx="12"/>
          </p:nvPr>
        </p:nvSpPr>
        <p:spPr/>
        <p:txBody>
          <a:bodyPr/>
          <a:lstStyle/>
          <a:p>
            <a:fld id="{44DF20A7-4908-43D6-9A3D-221F3CDFA6E7}" type="slidenum">
              <a:rPr lang="en-US" smtClean="0"/>
              <a:t>‹#›</a:t>
            </a:fld>
            <a:endParaRPr lang="en-US"/>
          </a:p>
        </p:txBody>
      </p:sp>
    </p:spTree>
    <p:extLst>
      <p:ext uri="{BB962C8B-B14F-4D97-AF65-F5344CB8AC3E}">
        <p14:creationId xmlns:p14="http://schemas.microsoft.com/office/powerpoint/2010/main" val="13074444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5A4D83-1B5B-EE71-AD2F-357097E772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B71DCCF-71C8-25B3-F593-C65278AEBF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593FA7-E301-286F-4032-BE1D19F906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53D0CF4-1CA0-4C2A-8220-83BA371E72A4}" type="datetimeFigureOut">
              <a:rPr lang="en-US" smtClean="0"/>
              <a:t>12/4/2025</a:t>
            </a:fld>
            <a:endParaRPr lang="en-US"/>
          </a:p>
        </p:txBody>
      </p:sp>
      <p:sp>
        <p:nvSpPr>
          <p:cNvPr id="5" name="Footer Placeholder 4">
            <a:extLst>
              <a:ext uri="{FF2B5EF4-FFF2-40B4-BE49-F238E27FC236}">
                <a16:creationId xmlns:a16="http://schemas.microsoft.com/office/drawing/2014/main" id="{C5F8B988-0F25-884C-3BC6-B85A0BC3A5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B90F413-EAC0-873C-6583-440EC9D228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4DF20A7-4908-43D6-9A3D-221F3CDFA6E7}" type="slidenum">
              <a:rPr lang="en-US" smtClean="0"/>
              <a:t>‹#›</a:t>
            </a:fld>
            <a:endParaRPr lang="en-US"/>
          </a:p>
        </p:txBody>
      </p:sp>
    </p:spTree>
    <p:extLst>
      <p:ext uri="{BB962C8B-B14F-4D97-AF65-F5344CB8AC3E}">
        <p14:creationId xmlns:p14="http://schemas.microsoft.com/office/powerpoint/2010/main" val="663877249"/>
      </p:ext>
    </p:extLst>
  </p:cSld>
  <p:clrMap bg1="lt1" tx1="dk1" bg2="lt2" tx2="dk2" accent1="accent1" accent2="accent2" accent3="accent3" accent4="accent4" accent5="accent5" accent6="accent6" hlink="hlink" folHlink="folHlink"/>
  <p:sldLayoutIdLst>
    <p:sldLayoutId id="2147483847" r:id="rId1"/>
    <p:sldLayoutId id="2147483848" r:id="rId2"/>
    <p:sldLayoutId id="2147483849" r:id="rId3"/>
    <p:sldLayoutId id="2147483850" r:id="rId4"/>
    <p:sldLayoutId id="2147483851" r:id="rId5"/>
    <p:sldLayoutId id="2147483852" r:id="rId6"/>
    <p:sldLayoutId id="2147483853" r:id="rId7"/>
    <p:sldLayoutId id="2147483854" r:id="rId8"/>
    <p:sldLayoutId id="2147483855" r:id="rId9"/>
    <p:sldLayoutId id="2147483856" r:id="rId10"/>
    <p:sldLayoutId id="214748385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6FC16-692A-C0DD-0FFE-C9899EDBBB78}"/>
              </a:ext>
            </a:extLst>
          </p:cNvPr>
          <p:cNvSpPr>
            <a:spLocks noGrp="1"/>
          </p:cNvSpPr>
          <p:nvPr>
            <p:ph type="ctrTitle"/>
          </p:nvPr>
        </p:nvSpPr>
        <p:spPr/>
        <p:txBody>
          <a:bodyPr/>
          <a:lstStyle/>
          <a:p>
            <a:r>
              <a:rPr lang="en-US" dirty="0"/>
              <a:t>Evaluating DDIMs in New Domains</a:t>
            </a:r>
          </a:p>
        </p:txBody>
      </p:sp>
      <p:sp>
        <p:nvSpPr>
          <p:cNvPr id="3" name="Subtitle 2">
            <a:extLst>
              <a:ext uri="{FF2B5EF4-FFF2-40B4-BE49-F238E27FC236}">
                <a16:creationId xmlns:a16="http://schemas.microsoft.com/office/drawing/2014/main" id="{2419EA7A-53FB-32A2-B4B4-57297B546CB5}"/>
              </a:ext>
            </a:extLst>
          </p:cNvPr>
          <p:cNvSpPr>
            <a:spLocks noGrp="1"/>
          </p:cNvSpPr>
          <p:nvPr>
            <p:ph type="subTitle" idx="1"/>
          </p:nvPr>
        </p:nvSpPr>
        <p:spPr/>
        <p:txBody>
          <a:bodyPr/>
          <a:lstStyle/>
          <a:p>
            <a:r>
              <a:rPr lang="en-US" dirty="0"/>
              <a:t>DDIMs vs WGANs</a:t>
            </a:r>
          </a:p>
          <a:p>
            <a:r>
              <a:rPr lang="en-US" dirty="0"/>
              <a:t>Cem Beyenal &amp; Mason Menser</a:t>
            </a:r>
          </a:p>
        </p:txBody>
      </p:sp>
    </p:spTree>
    <p:extLst>
      <p:ext uri="{BB962C8B-B14F-4D97-AF65-F5344CB8AC3E}">
        <p14:creationId xmlns:p14="http://schemas.microsoft.com/office/powerpoint/2010/main" val="35984125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C65C5-BD18-C8DA-781C-C7CE380765B4}"/>
              </a:ext>
            </a:extLst>
          </p:cNvPr>
          <p:cNvSpPr>
            <a:spLocks noGrp="1"/>
          </p:cNvSpPr>
          <p:nvPr>
            <p:ph type="title"/>
          </p:nvPr>
        </p:nvSpPr>
        <p:spPr/>
        <p:txBody>
          <a:bodyPr/>
          <a:lstStyle/>
          <a:p>
            <a:r>
              <a:rPr lang="en-US" dirty="0"/>
              <a:t>DDIMs</a:t>
            </a:r>
          </a:p>
        </p:txBody>
      </p:sp>
      <p:sp>
        <p:nvSpPr>
          <p:cNvPr id="3" name="Content Placeholder 2">
            <a:extLst>
              <a:ext uri="{FF2B5EF4-FFF2-40B4-BE49-F238E27FC236}">
                <a16:creationId xmlns:a16="http://schemas.microsoft.com/office/drawing/2014/main" id="{B80DDE98-AA77-7669-5B26-021B6773989B}"/>
              </a:ext>
            </a:extLst>
          </p:cNvPr>
          <p:cNvSpPr>
            <a:spLocks noGrp="1"/>
          </p:cNvSpPr>
          <p:nvPr>
            <p:ph idx="1"/>
          </p:nvPr>
        </p:nvSpPr>
        <p:spPr/>
        <p:txBody>
          <a:bodyPr>
            <a:normAutofit/>
          </a:bodyPr>
          <a:lstStyle/>
          <a:p>
            <a:pPr>
              <a:lnSpc>
                <a:spcPct val="150000"/>
              </a:lnSpc>
            </a:pPr>
            <a:r>
              <a:rPr lang="en-US" dirty="0"/>
              <a:t>Denoising Diffusion Implicit Models</a:t>
            </a:r>
          </a:p>
          <a:p>
            <a:pPr lvl="1">
              <a:lnSpc>
                <a:spcPct val="150000"/>
              </a:lnSpc>
            </a:pPr>
            <a:r>
              <a:rPr lang="en-US" dirty="0"/>
              <a:t>An evolution from DDPMs within the class of Diffusion Models</a:t>
            </a:r>
          </a:p>
          <a:p>
            <a:pPr lvl="1">
              <a:lnSpc>
                <a:spcPct val="150000"/>
              </a:lnSpc>
            </a:pPr>
            <a:r>
              <a:rPr lang="en-US" dirty="0"/>
              <a:t>Steps</a:t>
            </a:r>
          </a:p>
          <a:p>
            <a:pPr lvl="2">
              <a:lnSpc>
                <a:spcPct val="150000"/>
              </a:lnSpc>
            </a:pPr>
            <a:r>
              <a:rPr lang="en-US" dirty="0"/>
              <a:t>Add noise to an image for </a:t>
            </a:r>
            <a:r>
              <a:rPr lang="en-US" i="1" dirty="0"/>
              <a:t>T </a:t>
            </a:r>
            <a:r>
              <a:rPr lang="en-US" dirty="0"/>
              <a:t>steps</a:t>
            </a:r>
          </a:p>
          <a:p>
            <a:pPr lvl="2">
              <a:lnSpc>
                <a:spcPct val="150000"/>
              </a:lnSpc>
            </a:pPr>
            <a:r>
              <a:rPr lang="en-US" dirty="0"/>
              <a:t>Reverse the forward process by predicting the added noise</a:t>
            </a:r>
          </a:p>
          <a:p>
            <a:pPr lvl="1">
              <a:lnSpc>
                <a:spcPct val="150000"/>
              </a:lnSpc>
            </a:pPr>
            <a:r>
              <a:rPr lang="en-US" dirty="0"/>
              <a:t>Training and inference times typically takes longer</a:t>
            </a:r>
          </a:p>
          <a:p>
            <a:pPr lvl="1">
              <a:lnSpc>
                <a:spcPct val="150000"/>
              </a:lnSpc>
            </a:pPr>
            <a:r>
              <a:rPr lang="en-US" dirty="0"/>
              <a:t>More reliable/quality image outputs </a:t>
            </a:r>
          </a:p>
        </p:txBody>
      </p:sp>
      <p:pic>
        <p:nvPicPr>
          <p:cNvPr id="5" name="Picture 4">
            <a:extLst>
              <a:ext uri="{FF2B5EF4-FFF2-40B4-BE49-F238E27FC236}">
                <a16:creationId xmlns:a16="http://schemas.microsoft.com/office/drawing/2014/main" id="{D00220BE-2559-0B67-F900-C8663C21D383}"/>
              </a:ext>
            </a:extLst>
          </p:cNvPr>
          <p:cNvPicPr>
            <a:picLocks noChangeAspect="1"/>
          </p:cNvPicPr>
          <p:nvPr/>
        </p:nvPicPr>
        <p:blipFill>
          <a:blip r:embed="rId3"/>
          <a:stretch>
            <a:fillRect/>
          </a:stretch>
        </p:blipFill>
        <p:spPr>
          <a:xfrm>
            <a:off x="6949228" y="234892"/>
            <a:ext cx="5123230" cy="1885050"/>
          </a:xfrm>
          <a:prstGeom prst="rect">
            <a:avLst/>
          </a:prstGeom>
        </p:spPr>
      </p:pic>
    </p:spTree>
    <p:extLst>
      <p:ext uri="{BB962C8B-B14F-4D97-AF65-F5344CB8AC3E}">
        <p14:creationId xmlns:p14="http://schemas.microsoft.com/office/powerpoint/2010/main" val="32015254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4A109-7931-C361-82FB-3A486C8F75A6}"/>
              </a:ext>
            </a:extLst>
          </p:cNvPr>
          <p:cNvSpPr>
            <a:spLocks noGrp="1"/>
          </p:cNvSpPr>
          <p:nvPr>
            <p:ph type="title"/>
          </p:nvPr>
        </p:nvSpPr>
        <p:spPr/>
        <p:txBody>
          <a:bodyPr/>
          <a:lstStyle/>
          <a:p>
            <a:r>
              <a:rPr lang="en-US" dirty="0"/>
              <a:t>WGANs</a:t>
            </a:r>
          </a:p>
        </p:txBody>
      </p:sp>
      <p:sp>
        <p:nvSpPr>
          <p:cNvPr id="3" name="Content Placeholder 2">
            <a:extLst>
              <a:ext uri="{FF2B5EF4-FFF2-40B4-BE49-F238E27FC236}">
                <a16:creationId xmlns:a16="http://schemas.microsoft.com/office/drawing/2014/main" id="{92DEC058-BEB4-1562-E8A1-DA1EFCAAD3B6}"/>
              </a:ext>
            </a:extLst>
          </p:cNvPr>
          <p:cNvSpPr>
            <a:spLocks noGrp="1"/>
          </p:cNvSpPr>
          <p:nvPr>
            <p:ph idx="1"/>
          </p:nvPr>
        </p:nvSpPr>
        <p:spPr>
          <a:xfrm>
            <a:off x="838200" y="1877877"/>
            <a:ext cx="6304569" cy="1105680"/>
          </a:xfrm>
        </p:spPr>
        <p:txBody>
          <a:bodyPr/>
          <a:lstStyle/>
          <a:p>
            <a:r>
              <a:rPr lang="en-US" dirty="0"/>
              <a:t>Wasserstein Generative Adversarial Networks</a:t>
            </a:r>
          </a:p>
        </p:txBody>
      </p:sp>
      <p:pic>
        <p:nvPicPr>
          <p:cNvPr id="5" name="Picture 4">
            <a:extLst>
              <a:ext uri="{FF2B5EF4-FFF2-40B4-BE49-F238E27FC236}">
                <a16:creationId xmlns:a16="http://schemas.microsoft.com/office/drawing/2014/main" id="{CA2F9A18-A1A3-B365-38D2-876D939E5AB6}"/>
              </a:ext>
            </a:extLst>
          </p:cNvPr>
          <p:cNvPicPr>
            <a:picLocks noChangeAspect="1"/>
          </p:cNvPicPr>
          <p:nvPr/>
        </p:nvPicPr>
        <p:blipFill>
          <a:blip r:embed="rId3"/>
          <a:srcRect l="8645" t="6230" b="8385"/>
          <a:stretch>
            <a:fillRect/>
          </a:stretch>
        </p:blipFill>
        <p:spPr>
          <a:xfrm>
            <a:off x="6704715" y="146304"/>
            <a:ext cx="5471188" cy="2837253"/>
          </a:xfrm>
          <a:prstGeom prst="rect">
            <a:avLst/>
          </a:prstGeom>
        </p:spPr>
      </p:pic>
      <p:sp>
        <p:nvSpPr>
          <p:cNvPr id="6" name="TextBox 5">
            <a:extLst>
              <a:ext uri="{FF2B5EF4-FFF2-40B4-BE49-F238E27FC236}">
                <a16:creationId xmlns:a16="http://schemas.microsoft.com/office/drawing/2014/main" id="{D7B03592-01CC-ECE9-7BD4-5FA429C42410}"/>
              </a:ext>
            </a:extLst>
          </p:cNvPr>
          <p:cNvSpPr txBox="1"/>
          <p:nvPr/>
        </p:nvSpPr>
        <p:spPr>
          <a:xfrm>
            <a:off x="838200" y="2905533"/>
            <a:ext cx="10899648" cy="4318362"/>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sz="2000" dirty="0"/>
              <a:t>An evolution from plain GANs, targeting mode collapse/training instability</a:t>
            </a:r>
          </a:p>
          <a:p>
            <a:pPr marL="285750" indent="-285750">
              <a:lnSpc>
                <a:spcPct val="200000"/>
              </a:lnSpc>
              <a:buFont typeface="Arial" panose="020B0604020202020204" pitchFamily="34" charset="0"/>
              <a:buChar char="•"/>
            </a:pPr>
            <a:r>
              <a:rPr lang="en-US" sz="2000" dirty="0"/>
              <a:t>Steps</a:t>
            </a:r>
          </a:p>
          <a:p>
            <a:pPr marL="742950" lvl="1" indent="-285750">
              <a:lnSpc>
                <a:spcPct val="200000"/>
              </a:lnSpc>
              <a:buFont typeface="Arial" panose="020B0604020202020204" pitchFamily="34" charset="0"/>
              <a:buChar char="•"/>
            </a:pPr>
            <a:r>
              <a:rPr lang="en-US" sz="2000" dirty="0"/>
              <a:t>Critic: Grade images via WGAN loss function</a:t>
            </a:r>
          </a:p>
          <a:p>
            <a:pPr marL="742950" lvl="1" indent="-285750">
              <a:lnSpc>
                <a:spcPct val="200000"/>
              </a:lnSpc>
              <a:buFont typeface="Arial" panose="020B0604020202020204" pitchFamily="34" charset="0"/>
              <a:buChar char="•"/>
            </a:pPr>
            <a:r>
              <a:rPr lang="en-US" sz="2000" dirty="0"/>
              <a:t>Generator: Create images that Critic rates highly</a:t>
            </a:r>
          </a:p>
          <a:p>
            <a:pPr marL="285750" indent="-285750">
              <a:lnSpc>
                <a:spcPct val="200000"/>
              </a:lnSpc>
              <a:buFont typeface="Arial" panose="020B0604020202020204" pitchFamily="34" charset="0"/>
              <a:buChar char="•"/>
            </a:pPr>
            <a:r>
              <a:rPr lang="en-US" sz="2000" dirty="0"/>
              <a:t>Discriminator is more useful in WGANs</a:t>
            </a:r>
          </a:p>
          <a:p>
            <a:pPr marL="285750" indent="-285750">
              <a:lnSpc>
                <a:spcPct val="200000"/>
              </a:lnSpc>
              <a:buFont typeface="Arial" panose="020B0604020202020204" pitchFamily="34" charset="0"/>
              <a:buChar char="•"/>
            </a:pPr>
            <a:r>
              <a:rPr lang="en-US" sz="2000" dirty="0"/>
              <a:t>Quicker training &amp; inference times w/ quality images</a:t>
            </a:r>
          </a:p>
          <a:p>
            <a:pPr>
              <a:lnSpc>
                <a:spcPct val="200000"/>
              </a:lnSpc>
            </a:pPr>
            <a:endParaRPr lang="en-US" sz="2000" dirty="0"/>
          </a:p>
        </p:txBody>
      </p:sp>
    </p:spTree>
    <p:extLst>
      <p:ext uri="{BB962C8B-B14F-4D97-AF65-F5344CB8AC3E}">
        <p14:creationId xmlns:p14="http://schemas.microsoft.com/office/powerpoint/2010/main" val="31080983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B9D1B-3169-56D9-1D3B-62B3401C1BC1}"/>
              </a:ext>
            </a:extLst>
          </p:cNvPr>
          <p:cNvSpPr>
            <a:spLocks noGrp="1"/>
          </p:cNvSpPr>
          <p:nvPr>
            <p:ph type="title"/>
          </p:nvPr>
        </p:nvSpPr>
        <p:spPr/>
        <p:txBody>
          <a:bodyPr/>
          <a:lstStyle/>
          <a:p>
            <a:r>
              <a:rPr lang="en-US" dirty="0"/>
              <a:t>Approach</a:t>
            </a:r>
          </a:p>
        </p:txBody>
      </p:sp>
      <p:sp>
        <p:nvSpPr>
          <p:cNvPr id="3" name="Content Placeholder 2">
            <a:extLst>
              <a:ext uri="{FF2B5EF4-FFF2-40B4-BE49-F238E27FC236}">
                <a16:creationId xmlns:a16="http://schemas.microsoft.com/office/drawing/2014/main" id="{1CCA48CD-6E5C-A721-0112-A5E7F62724C6}"/>
              </a:ext>
            </a:extLst>
          </p:cNvPr>
          <p:cNvSpPr>
            <a:spLocks noGrp="1"/>
          </p:cNvSpPr>
          <p:nvPr>
            <p:ph idx="1"/>
          </p:nvPr>
        </p:nvSpPr>
        <p:spPr/>
        <p:txBody>
          <a:bodyPr>
            <a:normAutofit/>
          </a:bodyPr>
          <a:lstStyle/>
          <a:p>
            <a:r>
              <a:rPr lang="en-US" dirty="0"/>
              <a:t>Compare model performance on two datasets</a:t>
            </a:r>
          </a:p>
          <a:p>
            <a:pPr lvl="1"/>
            <a:r>
              <a:rPr lang="en-US" dirty="0"/>
              <a:t>Flowers102</a:t>
            </a:r>
          </a:p>
          <a:p>
            <a:pPr lvl="1"/>
            <a:r>
              <a:rPr lang="en-US" dirty="0"/>
              <a:t>MNIST </a:t>
            </a:r>
          </a:p>
          <a:p>
            <a:r>
              <a:rPr lang="en-US" dirty="0"/>
              <a:t>Metrics</a:t>
            </a:r>
          </a:p>
          <a:p>
            <a:pPr lvl="1"/>
            <a:r>
              <a:rPr lang="en-US" dirty="0"/>
              <a:t>Training time</a:t>
            </a:r>
          </a:p>
          <a:p>
            <a:pPr lvl="1"/>
            <a:r>
              <a:rPr lang="en-US" dirty="0"/>
              <a:t>Inference time</a:t>
            </a:r>
          </a:p>
          <a:p>
            <a:pPr lvl="1"/>
            <a:r>
              <a:rPr lang="en-US" dirty="0"/>
              <a:t>KID (Kernel Inception Distance)</a:t>
            </a:r>
          </a:p>
          <a:p>
            <a:pPr lvl="2"/>
            <a:r>
              <a:rPr lang="en-US" dirty="0"/>
              <a:t>Pass real and generated images thru Inception-v3</a:t>
            </a:r>
          </a:p>
          <a:p>
            <a:pPr lvl="2"/>
            <a:r>
              <a:rPr lang="en-US" dirty="0"/>
              <a:t>Captures high-level, relevant, semantic features of the images</a:t>
            </a:r>
          </a:p>
        </p:txBody>
      </p:sp>
      <p:pic>
        <p:nvPicPr>
          <p:cNvPr id="5" name="Picture 4" descr="A collage of different flowers&#10;&#10;AI-generated content may be incorrect.">
            <a:extLst>
              <a:ext uri="{FF2B5EF4-FFF2-40B4-BE49-F238E27FC236}">
                <a16:creationId xmlns:a16="http://schemas.microsoft.com/office/drawing/2014/main" id="{978CB5BE-EED0-385D-EC32-E7BEADAC66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58905" y="56882"/>
            <a:ext cx="2862488" cy="2862488"/>
          </a:xfrm>
          <a:prstGeom prst="rect">
            <a:avLst/>
          </a:prstGeom>
        </p:spPr>
      </p:pic>
      <p:pic>
        <p:nvPicPr>
          <p:cNvPr id="7" name="Picture 6" descr="A collage of numbers in black squares&#10;&#10;AI-generated content may be incorrect.">
            <a:extLst>
              <a:ext uri="{FF2B5EF4-FFF2-40B4-BE49-F238E27FC236}">
                <a16:creationId xmlns:a16="http://schemas.microsoft.com/office/drawing/2014/main" id="{EBDB478B-433A-E408-51D2-3B4806F05E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23823" y="3275201"/>
            <a:ext cx="2932651" cy="2932651"/>
          </a:xfrm>
          <a:prstGeom prst="rect">
            <a:avLst/>
          </a:prstGeom>
        </p:spPr>
      </p:pic>
    </p:spTree>
    <p:extLst>
      <p:ext uri="{BB962C8B-B14F-4D97-AF65-F5344CB8AC3E}">
        <p14:creationId xmlns:p14="http://schemas.microsoft.com/office/powerpoint/2010/main" val="6341217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15EE2-1845-AD1B-D3E4-5D6585437E8E}"/>
              </a:ext>
            </a:extLst>
          </p:cNvPr>
          <p:cNvSpPr>
            <a:spLocks noGrp="1"/>
          </p:cNvSpPr>
          <p:nvPr>
            <p:ph type="title"/>
          </p:nvPr>
        </p:nvSpPr>
        <p:spPr/>
        <p:txBody>
          <a:bodyPr/>
          <a:lstStyle/>
          <a:p>
            <a:r>
              <a:rPr lang="en-US" dirty="0"/>
              <a:t>Findings – Training Time</a:t>
            </a:r>
          </a:p>
        </p:txBody>
      </p:sp>
      <p:sp>
        <p:nvSpPr>
          <p:cNvPr id="3" name="Content Placeholder 2">
            <a:extLst>
              <a:ext uri="{FF2B5EF4-FFF2-40B4-BE49-F238E27FC236}">
                <a16:creationId xmlns:a16="http://schemas.microsoft.com/office/drawing/2014/main" id="{7705A438-DFFB-6015-FB38-05F715E2D6E8}"/>
              </a:ext>
            </a:extLst>
          </p:cNvPr>
          <p:cNvSpPr>
            <a:spLocks noGrp="1"/>
          </p:cNvSpPr>
          <p:nvPr>
            <p:ph idx="1"/>
          </p:nvPr>
        </p:nvSpPr>
        <p:spPr/>
        <p:txBody>
          <a:bodyPr/>
          <a:lstStyle/>
          <a:p>
            <a:r>
              <a:rPr lang="en-US" dirty="0"/>
              <a:t>Need to think about what were doing here</a:t>
            </a:r>
          </a:p>
        </p:txBody>
      </p:sp>
      <p:pic>
        <p:nvPicPr>
          <p:cNvPr id="5" name="Picture 4">
            <a:extLst>
              <a:ext uri="{FF2B5EF4-FFF2-40B4-BE49-F238E27FC236}">
                <a16:creationId xmlns:a16="http://schemas.microsoft.com/office/drawing/2014/main" id="{2D0E6C78-BA14-5C79-99A4-CC423DCA7B03}"/>
              </a:ext>
            </a:extLst>
          </p:cNvPr>
          <p:cNvPicPr>
            <a:picLocks noChangeAspect="1"/>
          </p:cNvPicPr>
          <p:nvPr/>
        </p:nvPicPr>
        <p:blipFill>
          <a:blip r:embed="rId2"/>
          <a:stretch>
            <a:fillRect/>
          </a:stretch>
        </p:blipFill>
        <p:spPr>
          <a:xfrm>
            <a:off x="3506071" y="3345587"/>
            <a:ext cx="6220527" cy="2216182"/>
          </a:xfrm>
          <a:prstGeom prst="rect">
            <a:avLst/>
          </a:prstGeom>
        </p:spPr>
      </p:pic>
    </p:spTree>
    <p:extLst>
      <p:ext uri="{BB962C8B-B14F-4D97-AF65-F5344CB8AC3E}">
        <p14:creationId xmlns:p14="http://schemas.microsoft.com/office/powerpoint/2010/main" val="24024332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6DB0F-4E4A-C898-266D-5AE47973BB0C}"/>
              </a:ext>
            </a:extLst>
          </p:cNvPr>
          <p:cNvSpPr>
            <a:spLocks noGrp="1"/>
          </p:cNvSpPr>
          <p:nvPr>
            <p:ph type="title"/>
          </p:nvPr>
        </p:nvSpPr>
        <p:spPr/>
        <p:txBody>
          <a:bodyPr/>
          <a:lstStyle/>
          <a:p>
            <a:r>
              <a:rPr lang="en-US" dirty="0"/>
              <a:t>Finding – Inference Time</a:t>
            </a:r>
          </a:p>
        </p:txBody>
      </p:sp>
      <p:sp>
        <p:nvSpPr>
          <p:cNvPr id="3" name="Content Placeholder 2">
            <a:extLst>
              <a:ext uri="{FF2B5EF4-FFF2-40B4-BE49-F238E27FC236}">
                <a16:creationId xmlns:a16="http://schemas.microsoft.com/office/drawing/2014/main" id="{5538B3F7-227D-563D-D4C6-ADA2BB50E950}"/>
              </a:ext>
            </a:extLst>
          </p:cNvPr>
          <p:cNvSpPr>
            <a:spLocks noGrp="1"/>
          </p:cNvSpPr>
          <p:nvPr>
            <p:ph idx="1"/>
          </p:nvPr>
        </p:nvSpPr>
        <p:spPr>
          <a:xfrm>
            <a:off x="838200" y="1825625"/>
            <a:ext cx="2991830" cy="4351338"/>
          </a:xfrm>
        </p:spPr>
        <p:txBody>
          <a:bodyPr/>
          <a:lstStyle/>
          <a:p>
            <a:r>
              <a:rPr lang="en-US" dirty="0"/>
              <a:t>On average, DDIMs are 6.2x slower w/ inference</a:t>
            </a:r>
          </a:p>
          <a:p>
            <a:pPr marL="0" indent="0">
              <a:buNone/>
            </a:pPr>
            <a:endParaRPr lang="en-US" dirty="0"/>
          </a:p>
          <a:p>
            <a:r>
              <a:rPr lang="en-US" dirty="0"/>
              <a:t>Expected given model architecture</a:t>
            </a:r>
          </a:p>
        </p:txBody>
      </p:sp>
      <p:pic>
        <p:nvPicPr>
          <p:cNvPr id="5" name="Picture 4">
            <a:extLst>
              <a:ext uri="{FF2B5EF4-FFF2-40B4-BE49-F238E27FC236}">
                <a16:creationId xmlns:a16="http://schemas.microsoft.com/office/drawing/2014/main" id="{81C3F7CF-20EE-E672-B472-4CC6B53BB910}"/>
              </a:ext>
            </a:extLst>
          </p:cNvPr>
          <p:cNvPicPr>
            <a:picLocks noChangeAspect="1"/>
          </p:cNvPicPr>
          <p:nvPr/>
        </p:nvPicPr>
        <p:blipFill>
          <a:blip r:embed="rId2"/>
          <a:stretch>
            <a:fillRect/>
          </a:stretch>
        </p:blipFill>
        <p:spPr>
          <a:xfrm>
            <a:off x="3869639" y="1431338"/>
            <a:ext cx="8111613" cy="4745625"/>
          </a:xfrm>
          <a:prstGeom prst="rect">
            <a:avLst/>
          </a:prstGeom>
        </p:spPr>
      </p:pic>
    </p:spTree>
    <p:extLst>
      <p:ext uri="{BB962C8B-B14F-4D97-AF65-F5344CB8AC3E}">
        <p14:creationId xmlns:p14="http://schemas.microsoft.com/office/powerpoint/2010/main" val="4782222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E236B-DC28-A623-27DF-D3E03CC24D7B}"/>
              </a:ext>
            </a:extLst>
          </p:cNvPr>
          <p:cNvSpPr>
            <a:spLocks noGrp="1"/>
          </p:cNvSpPr>
          <p:nvPr>
            <p:ph type="title"/>
          </p:nvPr>
        </p:nvSpPr>
        <p:spPr/>
        <p:txBody>
          <a:bodyPr/>
          <a:lstStyle/>
          <a:p>
            <a:r>
              <a:rPr lang="en-US" dirty="0"/>
              <a:t>Finding – Image Quality using KID</a:t>
            </a:r>
          </a:p>
        </p:txBody>
      </p:sp>
      <p:pic>
        <p:nvPicPr>
          <p:cNvPr id="9" name="Picture 8">
            <a:extLst>
              <a:ext uri="{FF2B5EF4-FFF2-40B4-BE49-F238E27FC236}">
                <a16:creationId xmlns:a16="http://schemas.microsoft.com/office/drawing/2014/main" id="{462574F3-73AE-9398-DE88-19E8E57054B7}"/>
              </a:ext>
            </a:extLst>
          </p:cNvPr>
          <p:cNvPicPr>
            <a:picLocks noChangeAspect="1"/>
          </p:cNvPicPr>
          <p:nvPr/>
        </p:nvPicPr>
        <p:blipFill>
          <a:blip r:embed="rId2"/>
          <a:stretch>
            <a:fillRect/>
          </a:stretch>
        </p:blipFill>
        <p:spPr>
          <a:xfrm>
            <a:off x="573351" y="1577993"/>
            <a:ext cx="11045298" cy="4004877"/>
          </a:xfrm>
          <a:prstGeom prst="rect">
            <a:avLst/>
          </a:prstGeom>
        </p:spPr>
      </p:pic>
      <p:sp>
        <p:nvSpPr>
          <p:cNvPr id="10" name="TextBox 9">
            <a:extLst>
              <a:ext uri="{FF2B5EF4-FFF2-40B4-BE49-F238E27FC236}">
                <a16:creationId xmlns:a16="http://schemas.microsoft.com/office/drawing/2014/main" id="{011B9AA9-DC60-8473-6FFF-9967839F56DB}"/>
              </a:ext>
            </a:extLst>
          </p:cNvPr>
          <p:cNvSpPr txBox="1"/>
          <p:nvPr/>
        </p:nvSpPr>
        <p:spPr>
          <a:xfrm>
            <a:off x="1879637" y="5768559"/>
            <a:ext cx="2875243" cy="923330"/>
          </a:xfrm>
          <a:prstGeom prst="rect">
            <a:avLst/>
          </a:prstGeom>
          <a:noFill/>
        </p:spPr>
        <p:txBody>
          <a:bodyPr wrap="square" rtlCol="0">
            <a:spAutoFit/>
          </a:bodyPr>
          <a:lstStyle/>
          <a:p>
            <a:r>
              <a:rPr lang="en-US" dirty="0"/>
              <a:t>Minimum KID</a:t>
            </a:r>
          </a:p>
          <a:p>
            <a:pPr lvl="1"/>
            <a:r>
              <a:rPr lang="en-US" dirty="0"/>
              <a:t>DDIM: 0.0495</a:t>
            </a:r>
          </a:p>
          <a:p>
            <a:pPr lvl="1"/>
            <a:r>
              <a:rPr lang="en-US" dirty="0"/>
              <a:t>WGAN: 0.1173</a:t>
            </a:r>
          </a:p>
        </p:txBody>
      </p:sp>
      <p:sp>
        <p:nvSpPr>
          <p:cNvPr id="15" name="TextBox 14">
            <a:extLst>
              <a:ext uri="{FF2B5EF4-FFF2-40B4-BE49-F238E27FC236}">
                <a16:creationId xmlns:a16="http://schemas.microsoft.com/office/drawing/2014/main" id="{DB01CA37-81DD-7651-A33D-1B153D9F8B8C}"/>
              </a:ext>
            </a:extLst>
          </p:cNvPr>
          <p:cNvSpPr txBox="1"/>
          <p:nvPr/>
        </p:nvSpPr>
        <p:spPr>
          <a:xfrm>
            <a:off x="7701317" y="5816457"/>
            <a:ext cx="2875243" cy="923330"/>
          </a:xfrm>
          <a:prstGeom prst="rect">
            <a:avLst/>
          </a:prstGeom>
          <a:noFill/>
        </p:spPr>
        <p:txBody>
          <a:bodyPr wrap="square" rtlCol="0">
            <a:spAutoFit/>
          </a:bodyPr>
          <a:lstStyle/>
          <a:p>
            <a:r>
              <a:rPr lang="en-US" dirty="0"/>
              <a:t>Minimum KID</a:t>
            </a:r>
          </a:p>
          <a:p>
            <a:pPr lvl="1"/>
            <a:r>
              <a:rPr lang="en-US" dirty="0"/>
              <a:t>DDIM: 0.0162</a:t>
            </a:r>
          </a:p>
          <a:p>
            <a:pPr lvl="1"/>
            <a:r>
              <a:rPr lang="en-US" dirty="0"/>
              <a:t>WGAN: 0.0121</a:t>
            </a:r>
          </a:p>
        </p:txBody>
      </p:sp>
    </p:spTree>
    <p:extLst>
      <p:ext uri="{BB962C8B-B14F-4D97-AF65-F5344CB8AC3E}">
        <p14:creationId xmlns:p14="http://schemas.microsoft.com/office/powerpoint/2010/main" val="21120498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42C14-612E-D812-5D00-0EE0F940E560}"/>
              </a:ext>
            </a:extLst>
          </p:cNvPr>
          <p:cNvSpPr>
            <a:spLocks noGrp="1"/>
          </p:cNvSpPr>
          <p:nvPr>
            <p:ph type="title"/>
          </p:nvPr>
        </p:nvSpPr>
        <p:spPr/>
        <p:txBody>
          <a:bodyPr/>
          <a:lstStyle/>
          <a:p>
            <a:r>
              <a:rPr lang="en-US" dirty="0"/>
              <a:t>Conclusions</a:t>
            </a:r>
          </a:p>
        </p:txBody>
      </p:sp>
      <p:sp>
        <p:nvSpPr>
          <p:cNvPr id="3" name="Content Placeholder 2">
            <a:extLst>
              <a:ext uri="{FF2B5EF4-FFF2-40B4-BE49-F238E27FC236}">
                <a16:creationId xmlns:a16="http://schemas.microsoft.com/office/drawing/2014/main" id="{0E378F1A-9589-F66E-CFAE-F92418442BA5}"/>
              </a:ext>
            </a:extLst>
          </p:cNvPr>
          <p:cNvSpPr>
            <a:spLocks noGrp="1"/>
          </p:cNvSpPr>
          <p:nvPr>
            <p:ph idx="1"/>
          </p:nvPr>
        </p:nvSpPr>
        <p:spPr/>
        <p:txBody>
          <a:bodyPr/>
          <a:lstStyle/>
          <a:p>
            <a:r>
              <a:rPr lang="en-US" dirty="0"/>
              <a:t>DDIMs take longer and are more complex to implement</a:t>
            </a:r>
          </a:p>
          <a:p>
            <a:r>
              <a:rPr lang="en-US" dirty="0"/>
              <a:t>On more complex datasets, DDIMs are higher quality</a:t>
            </a:r>
          </a:p>
        </p:txBody>
      </p:sp>
    </p:spTree>
    <p:extLst>
      <p:ext uri="{BB962C8B-B14F-4D97-AF65-F5344CB8AC3E}">
        <p14:creationId xmlns:p14="http://schemas.microsoft.com/office/powerpoint/2010/main" val="34989488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173</TotalTime>
  <Words>347</Words>
  <Application>Microsoft Office PowerPoint</Application>
  <PresentationFormat>Widescreen</PresentationFormat>
  <Paragraphs>52</Paragraphs>
  <Slides>8</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Evaluating DDIMs in New Domains</vt:lpstr>
      <vt:lpstr>DDIMs</vt:lpstr>
      <vt:lpstr>WGANs</vt:lpstr>
      <vt:lpstr>Approach</vt:lpstr>
      <vt:lpstr>Findings – Training Time</vt:lpstr>
      <vt:lpstr>Finding – Inference Time</vt:lpstr>
      <vt:lpstr>Finding – Image Quality using KID</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Mason Menser</dc:creator>
  <cp:lastModifiedBy>Mason Menser</cp:lastModifiedBy>
  <cp:revision>5</cp:revision>
  <dcterms:created xsi:type="dcterms:W3CDTF">2025-11-30T05:50:16Z</dcterms:created>
  <dcterms:modified xsi:type="dcterms:W3CDTF">2025-12-05T00:38:16Z</dcterms:modified>
</cp:coreProperties>
</file>