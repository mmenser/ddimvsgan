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4" autoAdjust="0"/>
    <p:restoredTop sz="94634"/>
  </p:normalViewPr>
  <p:slideViewPr>
    <p:cSldViewPr snapToGrid="0">
      <p:cViewPr varScale="1">
        <p:scale>
          <a:sx n="152" d="100"/>
          <a:sy n="152" d="100"/>
        </p:scale>
        <p:origin x="424"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4DE903-8928-4F53-8948-4BEA2CACA4FB}" type="datetimeFigureOut">
              <a:rPr lang="en-US" smtClean="0"/>
              <a:t>12/3/2025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D58DCE-95A7-4CB9-A6D8-A46A167DF4A3}" type="slidenum">
              <a:rPr lang="en-US" smtClean="0"/>
              <a:t>‹#›</a:t>
            </a:fld>
            <a:endParaRPr lang="en-US"/>
          </a:p>
        </p:txBody>
      </p:sp>
    </p:spTree>
    <p:extLst>
      <p:ext uri="{BB962C8B-B14F-4D97-AF65-F5344CB8AC3E}">
        <p14:creationId xmlns:p14="http://schemas.microsoft.com/office/powerpoint/2010/main" val="22439198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DDIMs are a class of image</a:t>
            </a:r>
          </a:p>
          <a:p>
            <a:r>
              <a:rPr lang="en-US" dirty="0"/>
              <a:t>Steps:</a:t>
            </a:r>
          </a:p>
          <a:p>
            <a:r>
              <a:rPr lang="en-US" dirty="0"/>
              <a:t>First, you add Gaussian noise to a clean image for T steps. At the end of those steps, you essentially have just pure noise. This is called the forward pass. From there, we move to the Denoising process. This is where </a:t>
            </a:r>
            <a:r>
              <a:rPr lang="en-US" dirty="0" err="1"/>
              <a:t>nueral</a:t>
            </a:r>
            <a:r>
              <a:rPr lang="en-US" dirty="0"/>
              <a:t> networks come in, where the model learns to reverse the forward process. Essentially, at each step T, the model tries to predict the noise that was added. By predicting the noise, the model can create a slightly less noising image and eventually, after T steps, results in a clean image. </a:t>
            </a:r>
          </a:p>
        </p:txBody>
      </p:sp>
      <p:sp>
        <p:nvSpPr>
          <p:cNvPr id="4" name="Slide Number Placeholder 3"/>
          <p:cNvSpPr>
            <a:spLocks noGrp="1"/>
          </p:cNvSpPr>
          <p:nvPr>
            <p:ph type="sldNum" sz="quarter" idx="5"/>
          </p:nvPr>
        </p:nvSpPr>
        <p:spPr/>
        <p:txBody>
          <a:bodyPr/>
          <a:lstStyle/>
          <a:p>
            <a:fld id="{1C8C2DBB-8D42-47E3-8C0C-B3452F62FF3E}" type="slidenum">
              <a:rPr lang="en-US" smtClean="0"/>
              <a:t>2</a:t>
            </a:fld>
            <a:endParaRPr lang="en-US"/>
          </a:p>
        </p:txBody>
      </p:sp>
    </p:spTree>
    <p:extLst>
      <p:ext uri="{BB962C8B-B14F-4D97-AF65-F5344CB8AC3E}">
        <p14:creationId xmlns:p14="http://schemas.microsoft.com/office/powerpoint/2010/main" val="34097202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899BDC-FB06-9C74-3E6E-7580E3D877B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A0B7F3-C7C8-153A-721D-A51AE3079E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7A54156-5997-96B6-BC30-11AFB45EB092}"/>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96ED3531-A079-D8CF-3576-EB980F701B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2DED14-F597-FE1A-2B91-F82BDFBC8131}"/>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28983505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01B44-60FA-A3F1-422E-27DAB9ABCD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4B0148-8D37-FBCD-11ED-4947EA30A54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459EE7-6784-3109-AA45-56A7826552FA}"/>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43D13203-845D-68A2-29B8-8F066A06FE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9AC20F-DBD8-A8E8-7100-2D42C9991AA6}"/>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30311702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E7F41-7DA6-AF19-8E5C-E2DC31E85A6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F302A06-812E-7CFD-FE85-F5B9DA99CA9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59BE6C7-68F8-F575-722E-7DBCD23DDA9B}"/>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FAFB66F2-E9F1-8462-CF00-A6F0419EDC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AEC434-E786-94FA-1002-69DD8D95CE04}"/>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2251989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4C809-8B7E-DA0E-0F7D-F3D53B40303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8CDB3B-A936-07F5-BD2B-95FCDF3692F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2B19ADC-55BE-507C-9DAE-A3BAEBF40D5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28062A0-74DC-2907-605A-5B20CDE9F3E5}"/>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6" name="Footer Placeholder 5">
            <a:extLst>
              <a:ext uri="{FF2B5EF4-FFF2-40B4-BE49-F238E27FC236}">
                <a16:creationId xmlns:a16="http://schemas.microsoft.com/office/drawing/2014/main" id="{BB752D7C-B29B-4132-4FCA-19F1BC26F8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EF1968-BF37-92B1-2D3F-B7D0D25AA1EB}"/>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3764200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DAECD5-7EB5-3B31-2076-7345A7B1FB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308D66-B8E2-A3B9-142A-1D63DB19CF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2FD7A4B-A66C-6ABE-0E50-9BF0C4CA8B4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8005F75-8EDE-EDD0-0092-47F64B0790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10A3B5B-9C4A-138E-058C-19DD2EF6BE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7485679-4462-3D59-A18A-56893E11250A}"/>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8" name="Footer Placeholder 7">
            <a:extLst>
              <a:ext uri="{FF2B5EF4-FFF2-40B4-BE49-F238E27FC236}">
                <a16:creationId xmlns:a16="http://schemas.microsoft.com/office/drawing/2014/main" id="{2AD81132-AD5C-2D29-0F9C-E52A5BED2F8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787062-75B5-A16C-E34B-851E906D9D26}"/>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15564555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B555A-F91D-C15A-0818-A75F7742F6C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5E7EA42-20E5-CB4D-2A16-A6A9C1B0692D}"/>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4" name="Footer Placeholder 3">
            <a:extLst>
              <a:ext uri="{FF2B5EF4-FFF2-40B4-BE49-F238E27FC236}">
                <a16:creationId xmlns:a16="http://schemas.microsoft.com/office/drawing/2014/main" id="{3061D85D-2CAE-A63A-9F84-BEE2B25AC44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4A54C9-E0C3-662B-5816-58F2A65759E6}"/>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40317151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258C5C-24B1-15F9-F90F-418B2BD2CE43}"/>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3" name="Footer Placeholder 2">
            <a:extLst>
              <a:ext uri="{FF2B5EF4-FFF2-40B4-BE49-F238E27FC236}">
                <a16:creationId xmlns:a16="http://schemas.microsoft.com/office/drawing/2014/main" id="{21C6F60F-F5D0-F446-B94D-302411D3AC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9D55487-E7CC-B6D1-400D-B9CDC3A3B0E5}"/>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21197329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4A0FF-B923-01D9-1AB1-9953CE1C0A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A4FD5D-4234-81C4-25C5-D1DE14C7A6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5F8EC6-F762-2E8C-F360-C27C8A1BBD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09DEC0-762E-4B67-DE1C-727001EB04E0}"/>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6" name="Footer Placeholder 5">
            <a:extLst>
              <a:ext uri="{FF2B5EF4-FFF2-40B4-BE49-F238E27FC236}">
                <a16:creationId xmlns:a16="http://schemas.microsoft.com/office/drawing/2014/main" id="{EA23D342-AD60-FB44-C8A5-A5BD4F30DD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A1C5AC-114E-1E1E-210C-DCB0F1F8FB5B}"/>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3430582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A98E0-5A7C-1C74-20A9-8104F73201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84F73F4-C1C2-260A-54E3-42727CBE20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E3D36EA-4C17-DE16-F28F-7EC2286059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C203E9-E270-3A62-844E-67D49ABE9748}"/>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6" name="Footer Placeholder 5">
            <a:extLst>
              <a:ext uri="{FF2B5EF4-FFF2-40B4-BE49-F238E27FC236}">
                <a16:creationId xmlns:a16="http://schemas.microsoft.com/office/drawing/2014/main" id="{198F8A0A-99D1-640E-E869-A04962F52B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9AFA6A-9058-5058-3749-CAAF66EA6C8E}"/>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34277832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DACE5E-8389-0575-3C72-BE378AFB1F8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759AF71-B61B-21F4-E452-3F08F4013D1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CE30AB-9991-4650-DAD4-2A7F184BD631}"/>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7CC2023B-F264-51A1-71C6-6088A1B1A1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5DA011-5DBC-1EFE-B4FE-BC568530537E}"/>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9860641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3BECA7B-4F0B-21B5-A472-7A8B3134C83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B325FEB-3292-659F-4DA1-59C74902FAE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BAA15D-D40C-C79C-3CD7-9EDDA0A3F0A8}"/>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18468B10-0CC0-0EBC-2107-A2741A7718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00A9E3-D38C-0267-86C3-01B2BE9F60D7}"/>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18467073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6472E9F-2C9C-7E12-BF59-E82D253BC2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B4BA0D7-5ABF-3165-6A1A-9B306404CB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F8D1DF-7A20-37A9-2AA9-36BDAE501C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4E1702EB-5EBB-9A24-12CC-3ECEE51E37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B266D03-8A05-F77C-9D7E-63DE0526314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DF20A7-4908-43D6-9A3D-221F3CDFA6E7}" type="slidenum">
              <a:rPr lang="en-US" smtClean="0"/>
              <a:t>‹#›</a:t>
            </a:fld>
            <a:endParaRPr lang="en-US"/>
          </a:p>
        </p:txBody>
      </p:sp>
    </p:spTree>
    <p:extLst>
      <p:ext uri="{BB962C8B-B14F-4D97-AF65-F5344CB8AC3E}">
        <p14:creationId xmlns:p14="http://schemas.microsoft.com/office/powerpoint/2010/main" val="21292452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6FC16-692A-C0DD-0FFE-C9899EDBBB78}"/>
              </a:ext>
            </a:extLst>
          </p:cNvPr>
          <p:cNvSpPr>
            <a:spLocks noGrp="1"/>
          </p:cNvSpPr>
          <p:nvPr>
            <p:ph type="ctrTitle"/>
          </p:nvPr>
        </p:nvSpPr>
        <p:spPr/>
        <p:txBody>
          <a:bodyPr/>
          <a:lstStyle/>
          <a:p>
            <a:r>
              <a:rPr lang="en-US" dirty="0"/>
              <a:t>Evaluating DDIMs in New Domains</a:t>
            </a:r>
          </a:p>
        </p:txBody>
      </p:sp>
      <p:sp>
        <p:nvSpPr>
          <p:cNvPr id="3" name="Subtitle 2">
            <a:extLst>
              <a:ext uri="{FF2B5EF4-FFF2-40B4-BE49-F238E27FC236}">
                <a16:creationId xmlns:a16="http://schemas.microsoft.com/office/drawing/2014/main" id="{2419EA7A-53FB-32A2-B4B4-57297B546CB5}"/>
              </a:ext>
            </a:extLst>
          </p:cNvPr>
          <p:cNvSpPr>
            <a:spLocks noGrp="1"/>
          </p:cNvSpPr>
          <p:nvPr>
            <p:ph type="subTitle" idx="1"/>
          </p:nvPr>
        </p:nvSpPr>
        <p:spPr/>
        <p:txBody>
          <a:bodyPr/>
          <a:lstStyle/>
          <a:p>
            <a:r>
              <a:rPr lang="en-US" dirty="0"/>
              <a:t>DDIMs vs WGANs</a:t>
            </a:r>
          </a:p>
          <a:p>
            <a:r>
              <a:rPr lang="en-US" dirty="0"/>
              <a:t>Cem Beyenal &amp; Mason Menser</a:t>
            </a:r>
          </a:p>
        </p:txBody>
      </p:sp>
    </p:spTree>
    <p:extLst>
      <p:ext uri="{BB962C8B-B14F-4D97-AF65-F5344CB8AC3E}">
        <p14:creationId xmlns:p14="http://schemas.microsoft.com/office/powerpoint/2010/main" val="35984125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C65C5-BD18-C8DA-781C-C7CE380765B4}"/>
              </a:ext>
            </a:extLst>
          </p:cNvPr>
          <p:cNvSpPr>
            <a:spLocks noGrp="1"/>
          </p:cNvSpPr>
          <p:nvPr>
            <p:ph type="title"/>
          </p:nvPr>
        </p:nvSpPr>
        <p:spPr/>
        <p:txBody>
          <a:bodyPr/>
          <a:lstStyle/>
          <a:p>
            <a:r>
              <a:rPr lang="en-US" dirty="0"/>
              <a:t>DDIMs</a:t>
            </a:r>
          </a:p>
        </p:txBody>
      </p:sp>
      <p:sp>
        <p:nvSpPr>
          <p:cNvPr id="3" name="Content Placeholder 2">
            <a:extLst>
              <a:ext uri="{FF2B5EF4-FFF2-40B4-BE49-F238E27FC236}">
                <a16:creationId xmlns:a16="http://schemas.microsoft.com/office/drawing/2014/main" id="{B80DDE98-AA77-7669-5B26-021B6773989B}"/>
              </a:ext>
            </a:extLst>
          </p:cNvPr>
          <p:cNvSpPr>
            <a:spLocks noGrp="1"/>
          </p:cNvSpPr>
          <p:nvPr>
            <p:ph idx="1"/>
          </p:nvPr>
        </p:nvSpPr>
        <p:spPr/>
        <p:txBody>
          <a:bodyPr/>
          <a:lstStyle/>
          <a:p>
            <a:pPr>
              <a:lnSpc>
                <a:spcPct val="150000"/>
              </a:lnSpc>
            </a:pPr>
            <a:r>
              <a:rPr lang="en-US" dirty="0"/>
              <a:t>Denoising Diffusion Implicit Models</a:t>
            </a:r>
          </a:p>
          <a:p>
            <a:pPr lvl="1">
              <a:lnSpc>
                <a:spcPct val="150000"/>
              </a:lnSpc>
            </a:pPr>
            <a:r>
              <a:rPr lang="en-US" dirty="0"/>
              <a:t>An evolution from DDPMs within the class of Diffusion Models</a:t>
            </a:r>
          </a:p>
          <a:p>
            <a:pPr lvl="1">
              <a:lnSpc>
                <a:spcPct val="150000"/>
              </a:lnSpc>
            </a:pPr>
            <a:r>
              <a:rPr lang="en-US" dirty="0"/>
              <a:t>Steps</a:t>
            </a:r>
          </a:p>
          <a:p>
            <a:pPr lvl="2">
              <a:lnSpc>
                <a:spcPct val="150000"/>
              </a:lnSpc>
            </a:pPr>
            <a:r>
              <a:rPr lang="en-US" dirty="0"/>
              <a:t>Add noise to an image for </a:t>
            </a:r>
            <a:r>
              <a:rPr lang="en-US" i="1" dirty="0"/>
              <a:t>T </a:t>
            </a:r>
            <a:r>
              <a:rPr lang="en-US" dirty="0"/>
              <a:t>steps</a:t>
            </a:r>
          </a:p>
          <a:p>
            <a:pPr lvl="2">
              <a:lnSpc>
                <a:spcPct val="150000"/>
              </a:lnSpc>
            </a:pPr>
            <a:r>
              <a:rPr lang="en-US" dirty="0"/>
              <a:t>Reverse the forward process by predicting the added noise</a:t>
            </a:r>
          </a:p>
          <a:p>
            <a:pPr lvl="1">
              <a:lnSpc>
                <a:spcPct val="150000"/>
              </a:lnSpc>
            </a:pPr>
            <a:r>
              <a:rPr lang="en-US" dirty="0"/>
              <a:t>Training and inference times typically takes longer</a:t>
            </a:r>
          </a:p>
          <a:p>
            <a:pPr lvl="1">
              <a:lnSpc>
                <a:spcPct val="150000"/>
              </a:lnSpc>
            </a:pPr>
            <a:r>
              <a:rPr lang="en-US" dirty="0"/>
              <a:t>More reliable/quality image outputs </a:t>
            </a:r>
          </a:p>
        </p:txBody>
      </p:sp>
      <p:pic>
        <p:nvPicPr>
          <p:cNvPr id="5" name="Picture 4">
            <a:extLst>
              <a:ext uri="{FF2B5EF4-FFF2-40B4-BE49-F238E27FC236}">
                <a16:creationId xmlns:a16="http://schemas.microsoft.com/office/drawing/2014/main" id="{D00220BE-2559-0B67-F900-C8663C21D383}"/>
              </a:ext>
            </a:extLst>
          </p:cNvPr>
          <p:cNvPicPr>
            <a:picLocks noChangeAspect="1"/>
          </p:cNvPicPr>
          <p:nvPr/>
        </p:nvPicPr>
        <p:blipFill>
          <a:blip r:embed="rId3"/>
          <a:stretch>
            <a:fillRect/>
          </a:stretch>
        </p:blipFill>
        <p:spPr>
          <a:xfrm>
            <a:off x="6949228" y="234892"/>
            <a:ext cx="5123230" cy="1885050"/>
          </a:xfrm>
          <a:prstGeom prst="rect">
            <a:avLst/>
          </a:prstGeom>
        </p:spPr>
      </p:pic>
    </p:spTree>
    <p:extLst>
      <p:ext uri="{BB962C8B-B14F-4D97-AF65-F5344CB8AC3E}">
        <p14:creationId xmlns:p14="http://schemas.microsoft.com/office/powerpoint/2010/main" val="3201525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59041-756B-D888-C9BF-28C98AB6BA2F}"/>
              </a:ext>
            </a:extLst>
          </p:cNvPr>
          <p:cNvSpPr>
            <a:spLocks noGrp="1"/>
          </p:cNvSpPr>
          <p:nvPr>
            <p:ph type="title"/>
          </p:nvPr>
        </p:nvSpPr>
        <p:spPr/>
        <p:txBody>
          <a:bodyPr/>
          <a:lstStyle/>
          <a:p>
            <a:r>
              <a:rPr lang="en-US" dirty="0"/>
              <a:t>Experiment 1 – </a:t>
            </a:r>
            <a:r>
              <a:rPr lang="en-US"/>
              <a:t>Colored Dataset – Flowers</a:t>
            </a:r>
            <a:endParaRPr lang="en-US" dirty="0"/>
          </a:p>
        </p:txBody>
      </p:sp>
      <p:sp>
        <p:nvSpPr>
          <p:cNvPr id="3" name="Content Placeholder 2">
            <a:extLst>
              <a:ext uri="{FF2B5EF4-FFF2-40B4-BE49-F238E27FC236}">
                <a16:creationId xmlns:a16="http://schemas.microsoft.com/office/drawing/2014/main" id="{56EC8F36-8FFE-EBC6-C416-111BBECD6C84}"/>
              </a:ext>
            </a:extLst>
          </p:cNvPr>
          <p:cNvSpPr>
            <a:spLocks noGrp="1"/>
          </p:cNvSpPr>
          <p:nvPr>
            <p:ph idx="1"/>
          </p:nvPr>
        </p:nvSpPr>
        <p:spPr/>
        <p:txBody>
          <a:bodyPr/>
          <a:lstStyle/>
          <a:p>
            <a:r>
              <a:rPr lang="en-US" dirty="0"/>
              <a:t>DDIM</a:t>
            </a:r>
          </a:p>
          <a:p>
            <a:endParaRPr lang="en-US" dirty="0"/>
          </a:p>
          <a:p>
            <a:endParaRPr lang="en-US" dirty="0"/>
          </a:p>
          <a:p>
            <a:r>
              <a:rPr lang="en-US" dirty="0"/>
              <a:t>WGAN</a:t>
            </a:r>
          </a:p>
          <a:p>
            <a:endParaRPr lang="en-US" dirty="0"/>
          </a:p>
          <a:p>
            <a:pPr lvl="1"/>
            <a:endParaRPr lang="en-US" dirty="0"/>
          </a:p>
        </p:txBody>
      </p:sp>
      <p:graphicFrame>
        <p:nvGraphicFramePr>
          <p:cNvPr id="7" name="Table 6">
            <a:extLst>
              <a:ext uri="{FF2B5EF4-FFF2-40B4-BE49-F238E27FC236}">
                <a16:creationId xmlns:a16="http://schemas.microsoft.com/office/drawing/2014/main" id="{33F0A1F3-CB0E-F229-30C5-3FF4BDE00756}"/>
              </a:ext>
            </a:extLst>
          </p:cNvPr>
          <p:cNvGraphicFramePr>
            <a:graphicFrameLocks noGrp="1"/>
          </p:cNvGraphicFramePr>
          <p:nvPr>
            <p:extLst>
              <p:ext uri="{D42A27DB-BD31-4B8C-83A1-F6EECF244321}">
                <p14:modId xmlns:p14="http://schemas.microsoft.com/office/powerpoint/2010/main" val="1687958981"/>
              </p:ext>
            </p:extLst>
          </p:nvPr>
        </p:nvGraphicFramePr>
        <p:xfrm>
          <a:off x="838200" y="2424898"/>
          <a:ext cx="8127999" cy="74168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3909082479"/>
                    </a:ext>
                  </a:extLst>
                </a:gridCol>
                <a:gridCol w="2709333">
                  <a:extLst>
                    <a:ext uri="{9D8B030D-6E8A-4147-A177-3AD203B41FA5}">
                      <a16:colId xmlns:a16="http://schemas.microsoft.com/office/drawing/2014/main" val="1723363952"/>
                    </a:ext>
                  </a:extLst>
                </a:gridCol>
                <a:gridCol w="2709333">
                  <a:extLst>
                    <a:ext uri="{9D8B030D-6E8A-4147-A177-3AD203B41FA5}">
                      <a16:colId xmlns:a16="http://schemas.microsoft.com/office/drawing/2014/main" val="635628647"/>
                    </a:ext>
                  </a:extLst>
                </a:gridCol>
              </a:tblGrid>
              <a:tr h="370840">
                <a:tc>
                  <a:txBody>
                    <a:bodyPr/>
                    <a:lstStyle/>
                    <a:p>
                      <a:r>
                        <a:rPr lang="en-US" dirty="0"/>
                        <a:t>Average Sampling</a:t>
                      </a:r>
                    </a:p>
                  </a:txBody>
                  <a:tcPr/>
                </a:tc>
                <a:tc>
                  <a:txBody>
                    <a:bodyPr/>
                    <a:lstStyle/>
                    <a:p>
                      <a:r>
                        <a:rPr lang="en-US" dirty="0"/>
                        <a:t>Average Training</a:t>
                      </a:r>
                    </a:p>
                  </a:txBody>
                  <a:tcPr/>
                </a:tc>
                <a:tc>
                  <a:txBody>
                    <a:bodyPr/>
                    <a:lstStyle/>
                    <a:p>
                      <a:r>
                        <a:rPr lang="en-US" dirty="0"/>
                        <a:t>Minimum KID</a:t>
                      </a:r>
                    </a:p>
                  </a:txBody>
                  <a:tcPr/>
                </a:tc>
                <a:extLst>
                  <a:ext uri="{0D108BD9-81ED-4DB2-BD59-A6C34878D82A}">
                    <a16:rowId xmlns:a16="http://schemas.microsoft.com/office/drawing/2014/main" val="384111123"/>
                  </a:ext>
                </a:extLst>
              </a:tr>
              <a:tr h="370840">
                <a:tc>
                  <a:txBody>
                    <a:bodyPr/>
                    <a:lstStyle/>
                    <a:p>
                      <a:r>
                        <a:rPr lang="en-US" dirty="0"/>
                        <a:t>2.19 s</a:t>
                      </a:r>
                    </a:p>
                  </a:txBody>
                  <a:tcPr/>
                </a:tc>
                <a:tc>
                  <a:txBody>
                    <a:bodyPr/>
                    <a:lstStyle/>
                    <a:p>
                      <a:r>
                        <a:rPr lang="en-US" dirty="0"/>
                        <a:t>44.42 s </a:t>
                      </a:r>
                    </a:p>
                  </a:txBody>
                  <a:tcPr/>
                </a:tc>
                <a:tc>
                  <a:txBody>
                    <a:bodyPr/>
                    <a:lstStyle/>
                    <a:p>
                      <a:r>
                        <a:rPr lang="en-US" dirty="0"/>
                        <a:t>0.049</a:t>
                      </a:r>
                    </a:p>
                  </a:txBody>
                  <a:tcPr/>
                </a:tc>
                <a:extLst>
                  <a:ext uri="{0D108BD9-81ED-4DB2-BD59-A6C34878D82A}">
                    <a16:rowId xmlns:a16="http://schemas.microsoft.com/office/drawing/2014/main" val="3986634991"/>
                  </a:ext>
                </a:extLst>
              </a:tr>
            </a:tbl>
          </a:graphicData>
        </a:graphic>
      </p:graphicFrame>
      <p:graphicFrame>
        <p:nvGraphicFramePr>
          <p:cNvPr id="5" name="Table 4">
            <a:extLst>
              <a:ext uri="{FF2B5EF4-FFF2-40B4-BE49-F238E27FC236}">
                <a16:creationId xmlns:a16="http://schemas.microsoft.com/office/drawing/2014/main" id="{812FA82E-C4E6-88E2-D26C-ECFF66524400}"/>
              </a:ext>
            </a:extLst>
          </p:cNvPr>
          <p:cNvGraphicFramePr>
            <a:graphicFrameLocks noGrp="1"/>
          </p:cNvGraphicFramePr>
          <p:nvPr>
            <p:extLst>
              <p:ext uri="{D42A27DB-BD31-4B8C-83A1-F6EECF244321}">
                <p14:modId xmlns:p14="http://schemas.microsoft.com/office/powerpoint/2010/main" val="22406838"/>
              </p:ext>
            </p:extLst>
          </p:nvPr>
        </p:nvGraphicFramePr>
        <p:xfrm>
          <a:off x="838199" y="3930090"/>
          <a:ext cx="8127999" cy="74168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3909082479"/>
                    </a:ext>
                  </a:extLst>
                </a:gridCol>
                <a:gridCol w="2709333">
                  <a:extLst>
                    <a:ext uri="{9D8B030D-6E8A-4147-A177-3AD203B41FA5}">
                      <a16:colId xmlns:a16="http://schemas.microsoft.com/office/drawing/2014/main" val="1723363952"/>
                    </a:ext>
                  </a:extLst>
                </a:gridCol>
                <a:gridCol w="2709333">
                  <a:extLst>
                    <a:ext uri="{9D8B030D-6E8A-4147-A177-3AD203B41FA5}">
                      <a16:colId xmlns:a16="http://schemas.microsoft.com/office/drawing/2014/main" val="635628647"/>
                    </a:ext>
                  </a:extLst>
                </a:gridCol>
              </a:tblGrid>
              <a:tr h="370840">
                <a:tc>
                  <a:txBody>
                    <a:bodyPr/>
                    <a:lstStyle/>
                    <a:p>
                      <a:r>
                        <a:rPr lang="en-US" dirty="0"/>
                        <a:t>Average Sampling</a:t>
                      </a:r>
                    </a:p>
                  </a:txBody>
                  <a:tcPr/>
                </a:tc>
                <a:tc>
                  <a:txBody>
                    <a:bodyPr/>
                    <a:lstStyle/>
                    <a:p>
                      <a:r>
                        <a:rPr lang="en-US" dirty="0"/>
                        <a:t>Average Training</a:t>
                      </a:r>
                    </a:p>
                  </a:txBody>
                  <a:tcPr/>
                </a:tc>
                <a:tc>
                  <a:txBody>
                    <a:bodyPr/>
                    <a:lstStyle/>
                    <a:p>
                      <a:r>
                        <a:rPr lang="en-US" dirty="0"/>
                        <a:t>Minimum KID</a:t>
                      </a:r>
                    </a:p>
                  </a:txBody>
                  <a:tcPr/>
                </a:tc>
                <a:extLst>
                  <a:ext uri="{0D108BD9-81ED-4DB2-BD59-A6C34878D82A}">
                    <a16:rowId xmlns:a16="http://schemas.microsoft.com/office/drawing/2014/main" val="384111123"/>
                  </a:ext>
                </a:extLst>
              </a:tr>
              <a:tr h="370840">
                <a:tc>
                  <a:txBody>
                    <a:bodyPr/>
                    <a:lstStyle/>
                    <a:p>
                      <a:r>
                        <a:rPr lang="en-US" dirty="0"/>
                        <a:t>2.19 s</a:t>
                      </a:r>
                    </a:p>
                  </a:txBody>
                  <a:tcPr/>
                </a:tc>
                <a:tc>
                  <a:txBody>
                    <a:bodyPr/>
                    <a:lstStyle/>
                    <a:p>
                      <a:r>
                        <a:rPr lang="en-US" dirty="0"/>
                        <a:t>44.42 s </a:t>
                      </a:r>
                    </a:p>
                  </a:txBody>
                  <a:tcPr/>
                </a:tc>
                <a:tc>
                  <a:txBody>
                    <a:bodyPr/>
                    <a:lstStyle/>
                    <a:p>
                      <a:r>
                        <a:rPr lang="en-US" dirty="0"/>
                        <a:t>0.049</a:t>
                      </a:r>
                    </a:p>
                  </a:txBody>
                  <a:tcPr/>
                </a:tc>
                <a:extLst>
                  <a:ext uri="{0D108BD9-81ED-4DB2-BD59-A6C34878D82A}">
                    <a16:rowId xmlns:a16="http://schemas.microsoft.com/office/drawing/2014/main" val="3986634991"/>
                  </a:ext>
                </a:extLst>
              </a:tr>
            </a:tbl>
          </a:graphicData>
        </a:graphic>
      </p:graphicFrame>
    </p:spTree>
    <p:extLst>
      <p:ext uri="{BB962C8B-B14F-4D97-AF65-F5344CB8AC3E}">
        <p14:creationId xmlns:p14="http://schemas.microsoft.com/office/powerpoint/2010/main" val="180020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DA421-9B19-7F0A-38CA-002DD3357871}"/>
              </a:ext>
            </a:extLst>
          </p:cNvPr>
          <p:cNvSpPr>
            <a:spLocks noGrp="1"/>
          </p:cNvSpPr>
          <p:nvPr>
            <p:ph type="title"/>
          </p:nvPr>
        </p:nvSpPr>
        <p:spPr/>
        <p:txBody>
          <a:bodyPr/>
          <a:lstStyle/>
          <a:p>
            <a:r>
              <a:rPr lang="en-US" dirty="0"/>
              <a:t>Experiment 2 – Greyscale Dataset</a:t>
            </a:r>
          </a:p>
        </p:txBody>
      </p:sp>
      <p:sp>
        <p:nvSpPr>
          <p:cNvPr id="3" name="Content Placeholder 2">
            <a:extLst>
              <a:ext uri="{FF2B5EF4-FFF2-40B4-BE49-F238E27FC236}">
                <a16:creationId xmlns:a16="http://schemas.microsoft.com/office/drawing/2014/main" id="{3528A5A7-25CF-AA18-8D01-327628C1CDBE}"/>
              </a:ext>
            </a:extLst>
          </p:cNvPr>
          <p:cNvSpPr>
            <a:spLocks noGrp="1"/>
          </p:cNvSpPr>
          <p:nvPr>
            <p:ph idx="1"/>
          </p:nvPr>
        </p:nvSpPr>
        <p:spPr/>
        <p:txBody>
          <a:bodyPr/>
          <a:lstStyle/>
          <a:p>
            <a:r>
              <a:rPr lang="en-US" dirty="0"/>
              <a:t>DDIM</a:t>
            </a:r>
          </a:p>
          <a:p>
            <a:endParaRPr lang="en-US" dirty="0"/>
          </a:p>
          <a:p>
            <a:endParaRPr lang="en-US" dirty="0"/>
          </a:p>
        </p:txBody>
      </p:sp>
      <p:graphicFrame>
        <p:nvGraphicFramePr>
          <p:cNvPr id="6" name="Table 5">
            <a:extLst>
              <a:ext uri="{FF2B5EF4-FFF2-40B4-BE49-F238E27FC236}">
                <a16:creationId xmlns:a16="http://schemas.microsoft.com/office/drawing/2014/main" id="{EF332FC3-82BE-3C13-EBE2-C3184C05A87A}"/>
              </a:ext>
            </a:extLst>
          </p:cNvPr>
          <p:cNvGraphicFramePr>
            <a:graphicFrameLocks noGrp="1"/>
          </p:cNvGraphicFramePr>
          <p:nvPr>
            <p:extLst>
              <p:ext uri="{D42A27DB-BD31-4B8C-83A1-F6EECF244321}">
                <p14:modId xmlns:p14="http://schemas.microsoft.com/office/powerpoint/2010/main" val="2420625632"/>
              </p:ext>
            </p:extLst>
          </p:nvPr>
        </p:nvGraphicFramePr>
        <p:xfrm>
          <a:off x="956963" y="2315607"/>
          <a:ext cx="8127999" cy="74168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612471297"/>
                    </a:ext>
                  </a:extLst>
                </a:gridCol>
                <a:gridCol w="2709333">
                  <a:extLst>
                    <a:ext uri="{9D8B030D-6E8A-4147-A177-3AD203B41FA5}">
                      <a16:colId xmlns:a16="http://schemas.microsoft.com/office/drawing/2014/main" val="4034898430"/>
                    </a:ext>
                  </a:extLst>
                </a:gridCol>
                <a:gridCol w="2709333">
                  <a:extLst>
                    <a:ext uri="{9D8B030D-6E8A-4147-A177-3AD203B41FA5}">
                      <a16:colId xmlns:a16="http://schemas.microsoft.com/office/drawing/2014/main" val="4158736585"/>
                    </a:ext>
                  </a:extLst>
                </a:gridCol>
              </a:tblGrid>
              <a:tr h="370840">
                <a:tc>
                  <a:txBody>
                    <a:bodyPr/>
                    <a:lstStyle/>
                    <a:p>
                      <a:r>
                        <a:rPr lang="en-US" dirty="0"/>
                        <a:t>Average Sampling</a:t>
                      </a:r>
                    </a:p>
                  </a:txBody>
                  <a:tcPr/>
                </a:tc>
                <a:tc>
                  <a:txBody>
                    <a:bodyPr/>
                    <a:lstStyle/>
                    <a:p>
                      <a:r>
                        <a:rPr lang="en-US" dirty="0"/>
                        <a:t>Average Training</a:t>
                      </a:r>
                    </a:p>
                  </a:txBody>
                  <a:tcPr/>
                </a:tc>
                <a:tc>
                  <a:txBody>
                    <a:bodyPr/>
                    <a:lstStyle/>
                    <a:p>
                      <a:r>
                        <a:rPr lang="en-US" dirty="0"/>
                        <a:t>Minimum KID</a:t>
                      </a:r>
                    </a:p>
                  </a:txBody>
                  <a:tcPr/>
                </a:tc>
                <a:extLst>
                  <a:ext uri="{0D108BD9-81ED-4DB2-BD59-A6C34878D82A}">
                    <a16:rowId xmlns:a16="http://schemas.microsoft.com/office/drawing/2014/main" val="1199087045"/>
                  </a:ext>
                </a:extLst>
              </a:tr>
              <a:tr h="370840">
                <a:tc>
                  <a:txBody>
                    <a:bodyPr/>
                    <a:lstStyle/>
                    <a:p>
                      <a:r>
                        <a:rPr lang="en-US" dirty="0"/>
                        <a:t>2.19 s</a:t>
                      </a:r>
                    </a:p>
                  </a:txBody>
                  <a:tcPr/>
                </a:tc>
                <a:tc>
                  <a:txBody>
                    <a:bodyPr/>
                    <a:lstStyle/>
                    <a:p>
                      <a:r>
                        <a:rPr lang="en-US" dirty="0"/>
                        <a:t>66.11 ss </a:t>
                      </a:r>
                    </a:p>
                  </a:txBody>
                  <a:tcPr/>
                </a:tc>
                <a:tc>
                  <a:txBody>
                    <a:bodyPr/>
                    <a:lstStyle/>
                    <a:p>
                      <a:r>
                        <a:rPr lang="en-US" dirty="0"/>
                        <a:t>0.016</a:t>
                      </a:r>
                    </a:p>
                  </a:txBody>
                  <a:tcPr/>
                </a:tc>
                <a:extLst>
                  <a:ext uri="{0D108BD9-81ED-4DB2-BD59-A6C34878D82A}">
                    <a16:rowId xmlns:a16="http://schemas.microsoft.com/office/drawing/2014/main" val="4060962425"/>
                  </a:ext>
                </a:extLst>
              </a:tr>
            </a:tbl>
          </a:graphicData>
        </a:graphic>
      </p:graphicFrame>
    </p:spTree>
    <p:extLst>
      <p:ext uri="{BB962C8B-B14F-4D97-AF65-F5344CB8AC3E}">
        <p14:creationId xmlns:p14="http://schemas.microsoft.com/office/powerpoint/2010/main" val="40464615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TotalTime>
  <Words>224</Words>
  <Application>Microsoft Office PowerPoint</Application>
  <PresentationFormat>Widescreen</PresentationFormat>
  <Paragraphs>40</Paragraphs>
  <Slides>4</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Evaluating DDIMs in New Domains</vt:lpstr>
      <vt:lpstr>DDIMs</vt:lpstr>
      <vt:lpstr>Experiment 1 – Colored Dataset – Flowers</vt:lpstr>
      <vt:lpstr>Experiment 2 – Greyscale Dataset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Mason Menser</dc:creator>
  <cp:lastModifiedBy>Mason Menser</cp:lastModifiedBy>
  <cp:revision>3</cp:revision>
  <dcterms:created xsi:type="dcterms:W3CDTF">2025-11-30T05:50:16Z</dcterms:created>
  <dcterms:modified xsi:type="dcterms:W3CDTF">2025-12-04T06:12:24Z</dcterms:modified>
</cp:coreProperties>
</file>